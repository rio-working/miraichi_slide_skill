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0A495"/>
          </a:solidFill>
          <a:ln/>
        </p:spPr>
      </p:sp>
      <p:sp>
        <p:nvSpPr>
          <p:cNvPr id="3" name="Shape 1"/>
          <p:cNvSpPr/>
          <p:nvPr/>
        </p:nvSpPr>
        <p:spPr>
          <a:xfrm>
            <a:off x="548640" y="1371600"/>
            <a:ext cx="2743200" cy="54864"/>
          </a:xfrm>
          <a:prstGeom prst="rect">
            <a:avLst/>
          </a:prstGeom>
          <a:solidFill>
            <a:srgbClr val="FABF00"/>
          </a:solidFill>
          <a:ln/>
        </p:spPr>
      </p:sp>
      <p:sp>
        <p:nvSpPr>
          <p:cNvPr id="4" name="Text 2"/>
          <p:cNvSpPr/>
          <p:nvPr/>
        </p:nvSpPr>
        <p:spPr>
          <a:xfrm>
            <a:off x="548640" y="1554480"/>
            <a:ext cx="8046720" cy="1371600"/>
          </a:xfrm>
          <a:prstGeom prst="rect">
            <a:avLst/>
          </a:prstGeom>
          <a:noFill/>
          <a:ln/>
        </p:spPr>
        <p:txBody>
          <a:bodyPr wrap="square" rtlCol="0" anchor="t"/>
          <a:lstStyle/>
          <a:p>
            <a:pPr indent="0" marL="0">
              <a:buNone/>
            </a:pPr>
            <a:r>
              <a:rPr lang="en-US" sz="4000" b="1" dirty="0">
                <a:solidFill>
                  <a:srgbClr val="FFFFFF"/>
                </a:solidFill>
                <a:latin typeface="Noto Sans JP" pitchFamily="34" charset="0"/>
                <a:ea typeface="Noto Sans JP" pitchFamily="34" charset="-122"/>
                <a:cs typeface="Noto Sans JP" pitchFamily="34" charset="-120"/>
              </a:rPr>
              <a:t>AI×マーケティング活用戦略</a:t>
            </a:r>
            <a:endParaRPr lang="en-US" sz="4000" dirty="0"/>
          </a:p>
        </p:txBody>
      </p:sp>
      <p:sp>
        <p:nvSpPr>
          <p:cNvPr id="5" name="Text 3"/>
          <p:cNvSpPr/>
          <p:nvPr/>
        </p:nvSpPr>
        <p:spPr>
          <a:xfrm>
            <a:off x="548640" y="2926080"/>
            <a:ext cx="8046720" cy="548640"/>
          </a:xfrm>
          <a:prstGeom prst="rect">
            <a:avLst/>
          </a:prstGeom>
          <a:noFill/>
          <a:ln/>
        </p:spPr>
        <p:txBody>
          <a:bodyPr wrap="square" rtlCol="0" anchor="t"/>
          <a:lstStyle/>
          <a:p>
            <a:pPr indent="0" marL="0">
              <a:buNone/>
            </a:pPr>
            <a:r>
              <a:rPr lang="en-US" sz="2000" dirty="0">
                <a:solidFill>
                  <a:srgbClr val="FABF00"/>
                </a:solidFill>
                <a:latin typeface="Noto Sans JP" pitchFamily="34" charset="0"/>
                <a:ea typeface="Noto Sans JP" pitchFamily="34" charset="-122"/>
                <a:cs typeface="Noto Sans JP" pitchFamily="34" charset="-120"/>
              </a:rPr>
              <a:t>顧客体験向上と業務効率化に向けて</a:t>
            </a:r>
            <a:endParaRPr lang="en-US" sz="2000" dirty="0"/>
          </a:p>
        </p:txBody>
      </p:sp>
      <p:sp>
        <p:nvSpPr>
          <p:cNvPr id="6" name="Text 4"/>
          <p:cNvSpPr/>
          <p:nvPr/>
        </p:nvSpPr>
        <p:spPr>
          <a:xfrm>
            <a:off x="548640" y="4114800"/>
            <a:ext cx="8046720" cy="457200"/>
          </a:xfrm>
          <a:prstGeom prst="rect">
            <a:avLst/>
          </a:prstGeom>
          <a:noFill/>
          <a:ln/>
        </p:spPr>
        <p:txBody>
          <a:bodyPr wrap="square" rtlCol="0" anchor="b"/>
          <a:lstStyle/>
          <a:p>
            <a:pPr indent="0" marL="0">
              <a:buNone/>
            </a:pPr>
            <a:r>
              <a:rPr lang="en-US" sz="1600" dirty="0">
                <a:solidFill>
                  <a:srgbClr val="FFFFFF"/>
                </a:solidFill>
                <a:latin typeface="Noto Sans JP" pitchFamily="34" charset="0"/>
                <a:ea typeface="Noto Sans JP" pitchFamily="34" charset="-122"/>
                <a:cs typeface="Noto Sans JP" pitchFamily="34" charset="-120"/>
              </a:rPr>
              <a:t>マーケティング・イノベーション推進チーム</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0A495"/>
          </a:solidFill>
          <a:ln/>
        </p:spPr>
      </p:sp>
      <p:sp>
        <p:nvSpPr>
          <p:cNvPr id="3" name="Text 1"/>
          <p:cNvSpPr/>
          <p:nvPr/>
        </p:nvSpPr>
        <p:spPr>
          <a:xfrm>
            <a:off x="548640" y="0"/>
            <a:ext cx="8046720" cy="731520"/>
          </a:xfrm>
          <a:prstGeom prst="rect">
            <a:avLst/>
          </a:prstGeom>
          <a:noFill/>
          <a:ln/>
        </p:spPr>
        <p:txBody>
          <a:bodyPr wrap="square" rtlCol="0" anchor="ctr"/>
          <a:lstStyle/>
          <a:p>
            <a:pPr indent="0" marL="0">
              <a:buNone/>
            </a:pPr>
            <a:r>
              <a:rPr lang="en-US" sz="2400" b="1" dirty="0">
                <a:solidFill>
                  <a:srgbClr val="FFFFFF"/>
                </a:solidFill>
                <a:latin typeface="Noto Sans JP" pitchFamily="34" charset="0"/>
                <a:ea typeface="Noto Sans JP" pitchFamily="34" charset="-122"/>
                <a:cs typeface="Noto Sans JP" pitchFamily="34" charset="-120"/>
              </a:rPr>
              <a:t>SUMMARY</a:t>
            </a:r>
            <a:endParaRPr lang="en-US" sz="2400" dirty="0"/>
          </a:p>
        </p:txBody>
      </p:sp>
      <p:sp>
        <p:nvSpPr>
          <p:cNvPr id="4" name="Shape 2"/>
          <p:cNvSpPr/>
          <p:nvPr/>
        </p:nvSpPr>
        <p:spPr>
          <a:xfrm>
            <a:off x="548640" y="1097280"/>
            <a:ext cx="8046720" cy="914400"/>
          </a:xfrm>
          <a:prstGeom prst="rect">
            <a:avLst>
              <a:gd name="adj" fmla="val 10000"/>
            </a:avLst>
          </a:prstGeom>
          <a:solidFill>
            <a:srgbClr val="00A495"/>
          </a:solidFill>
          <a:ln/>
        </p:spPr>
      </p:sp>
      <p:sp>
        <p:nvSpPr>
          <p:cNvPr id="5" name="Text 3"/>
          <p:cNvSpPr/>
          <p:nvPr/>
        </p:nvSpPr>
        <p:spPr>
          <a:xfrm>
            <a:off x="731520" y="1097280"/>
            <a:ext cx="7680960" cy="914400"/>
          </a:xfrm>
          <a:prstGeom prst="rect">
            <a:avLst/>
          </a:prstGeom>
          <a:noFill/>
          <a:ln/>
        </p:spPr>
        <p:txBody>
          <a:bodyPr wrap="square" rtlCol="0" anchor="ctr"/>
          <a:lstStyle/>
          <a:p>
            <a:pPr indent="0" marL="0">
              <a:buNone/>
            </a:pPr>
            <a:r>
              <a:rPr lang="en-US" sz="2000" b="1" dirty="0">
                <a:solidFill>
                  <a:srgbClr val="FFFFFF"/>
                </a:solidFill>
                <a:latin typeface="Noto Sans JP" pitchFamily="34" charset="0"/>
                <a:ea typeface="Noto Sans JP" pitchFamily="34" charset="-122"/>
                <a:cs typeface="Noto Sans JP" pitchFamily="34" charset="-120"/>
              </a:rPr>
              <a:t>AIをマーケティングに導入することで、顧客理解の深化と一人ひとりに最適な提案を持続的に行える体制を構築する。</a:t>
            </a:r>
            <a:endParaRPr lang="en-US" sz="2000" dirty="0"/>
          </a:p>
        </p:txBody>
      </p:sp>
      <p:sp>
        <p:nvSpPr>
          <p:cNvPr id="6" name="Shape 4"/>
          <p:cNvSpPr/>
          <p:nvPr/>
        </p:nvSpPr>
        <p:spPr>
          <a:xfrm>
            <a:off x="548640" y="2377440"/>
            <a:ext cx="457200" cy="457200"/>
          </a:xfrm>
          <a:prstGeom prst="rect">
            <a:avLst>
              <a:gd name="adj" fmla="val 10000"/>
            </a:avLst>
          </a:prstGeom>
          <a:solidFill>
            <a:srgbClr val="FABF00"/>
          </a:solidFill>
          <a:ln/>
        </p:spPr>
      </p:sp>
      <p:sp>
        <p:nvSpPr>
          <p:cNvPr id="7" name="Text 5"/>
          <p:cNvSpPr/>
          <p:nvPr/>
        </p:nvSpPr>
        <p:spPr>
          <a:xfrm>
            <a:off x="548640" y="2377440"/>
            <a:ext cx="457200" cy="457200"/>
          </a:xfrm>
          <a:prstGeom prst="rect">
            <a:avLst/>
          </a:prstGeom>
          <a:noFill/>
          <a:ln/>
        </p:spPr>
        <p:txBody>
          <a:bodyPr wrap="square" rtlCol="0" anchor="ctr"/>
          <a:lstStyle/>
          <a:p>
            <a:pPr algn="ctr" indent="0" marL="0">
              <a:buNone/>
            </a:pPr>
            <a:r>
              <a:rPr lang="en-US" sz="1800" b="1" dirty="0">
                <a:solidFill>
                  <a:srgbClr val="00A495"/>
                </a:solidFill>
                <a:latin typeface="Noto Sans JP" pitchFamily="34" charset="0"/>
                <a:ea typeface="Noto Sans JP" pitchFamily="34" charset="-122"/>
                <a:cs typeface="Noto Sans JP" pitchFamily="34" charset="-120"/>
              </a:rPr>
              <a:t>1</a:t>
            </a:r>
            <a:endParaRPr lang="en-US" sz="1800" dirty="0"/>
          </a:p>
        </p:txBody>
      </p:sp>
      <p:sp>
        <p:nvSpPr>
          <p:cNvPr id="8" name="Text 6"/>
          <p:cNvSpPr/>
          <p:nvPr/>
        </p:nvSpPr>
        <p:spPr>
          <a:xfrm>
            <a:off x="1188720" y="2377440"/>
            <a:ext cx="7406640" cy="457200"/>
          </a:xfrm>
          <a:prstGeom prst="rect">
            <a:avLst/>
          </a:prstGeom>
          <a:noFill/>
          <a:ln/>
        </p:spPr>
        <p:txBody>
          <a:bodyPr wrap="square" rtlCol="0" anchor="ctr"/>
          <a:lstStyle/>
          <a:p>
            <a:pPr indent="0" marL="0">
              <a:buNone/>
            </a:pPr>
            <a:r>
              <a:rPr lang="en-US" sz="1600" dirty="0">
                <a:solidFill>
                  <a:srgbClr val="2C3E3B"/>
                </a:solidFill>
                <a:latin typeface="Noto Sans JP" pitchFamily="34" charset="0"/>
                <a:ea typeface="Noto Sans JP" pitchFamily="34" charset="-122"/>
                <a:cs typeface="Noto Sans JP" pitchFamily="34" charset="-120"/>
              </a:rPr>
              <a:t>膨大な顧客データからのインサイト抽出の高速化</a:t>
            </a:r>
            <a:endParaRPr lang="en-US" sz="1600" dirty="0"/>
          </a:p>
        </p:txBody>
      </p:sp>
      <p:sp>
        <p:nvSpPr>
          <p:cNvPr id="9" name="Shape 7"/>
          <p:cNvSpPr/>
          <p:nvPr/>
        </p:nvSpPr>
        <p:spPr>
          <a:xfrm>
            <a:off x="548640" y="3017520"/>
            <a:ext cx="457200" cy="457200"/>
          </a:xfrm>
          <a:prstGeom prst="rect">
            <a:avLst>
              <a:gd name="adj" fmla="val 10000"/>
            </a:avLst>
          </a:prstGeom>
          <a:solidFill>
            <a:srgbClr val="FABF00"/>
          </a:solidFill>
          <a:ln/>
        </p:spPr>
      </p:sp>
      <p:sp>
        <p:nvSpPr>
          <p:cNvPr id="10" name="Text 8"/>
          <p:cNvSpPr/>
          <p:nvPr/>
        </p:nvSpPr>
        <p:spPr>
          <a:xfrm>
            <a:off x="548640" y="3017520"/>
            <a:ext cx="457200" cy="457200"/>
          </a:xfrm>
          <a:prstGeom prst="rect">
            <a:avLst/>
          </a:prstGeom>
          <a:noFill/>
          <a:ln/>
        </p:spPr>
        <p:txBody>
          <a:bodyPr wrap="square" rtlCol="0" anchor="ctr"/>
          <a:lstStyle/>
          <a:p>
            <a:pPr algn="ctr" indent="0" marL="0">
              <a:buNone/>
            </a:pPr>
            <a:r>
              <a:rPr lang="en-US" sz="1800" b="1" dirty="0">
                <a:solidFill>
                  <a:srgbClr val="00A495"/>
                </a:solidFill>
                <a:latin typeface="Noto Sans JP" pitchFamily="34" charset="0"/>
                <a:ea typeface="Noto Sans JP" pitchFamily="34" charset="-122"/>
                <a:cs typeface="Noto Sans JP" pitchFamily="34" charset="-120"/>
              </a:rPr>
              <a:t>2</a:t>
            </a:r>
            <a:endParaRPr lang="en-US" sz="1800" dirty="0"/>
          </a:p>
        </p:txBody>
      </p:sp>
      <p:sp>
        <p:nvSpPr>
          <p:cNvPr id="11" name="Text 9"/>
          <p:cNvSpPr/>
          <p:nvPr/>
        </p:nvSpPr>
        <p:spPr>
          <a:xfrm>
            <a:off x="1188720" y="3017520"/>
            <a:ext cx="7406640" cy="457200"/>
          </a:xfrm>
          <a:prstGeom prst="rect">
            <a:avLst/>
          </a:prstGeom>
          <a:noFill/>
          <a:ln/>
        </p:spPr>
        <p:txBody>
          <a:bodyPr wrap="square" rtlCol="0" anchor="ctr"/>
          <a:lstStyle/>
          <a:p>
            <a:pPr indent="0" marL="0">
              <a:buNone/>
            </a:pPr>
            <a:r>
              <a:rPr lang="en-US" sz="1600" dirty="0">
                <a:solidFill>
                  <a:srgbClr val="2C3E3B"/>
                </a:solidFill>
                <a:latin typeface="Noto Sans JP" pitchFamily="34" charset="0"/>
                <a:ea typeface="Noto Sans JP" pitchFamily="34" charset="-122"/>
                <a:cs typeface="Noto Sans JP" pitchFamily="34" charset="-120"/>
              </a:rPr>
              <a:t>コミュニケーションの自動化・パーソナライズ化</a:t>
            </a:r>
            <a:endParaRPr lang="en-US" sz="1600" dirty="0"/>
          </a:p>
        </p:txBody>
      </p:sp>
      <p:sp>
        <p:nvSpPr>
          <p:cNvPr id="12" name="Shape 10"/>
          <p:cNvSpPr/>
          <p:nvPr/>
        </p:nvSpPr>
        <p:spPr>
          <a:xfrm>
            <a:off x="548640" y="3657600"/>
            <a:ext cx="457200" cy="457200"/>
          </a:xfrm>
          <a:prstGeom prst="rect">
            <a:avLst>
              <a:gd name="adj" fmla="val 10000"/>
            </a:avLst>
          </a:prstGeom>
          <a:solidFill>
            <a:srgbClr val="FABF00"/>
          </a:solidFill>
          <a:ln/>
        </p:spPr>
      </p:sp>
      <p:sp>
        <p:nvSpPr>
          <p:cNvPr id="13" name="Text 11"/>
          <p:cNvSpPr/>
          <p:nvPr/>
        </p:nvSpPr>
        <p:spPr>
          <a:xfrm>
            <a:off x="548640" y="3657600"/>
            <a:ext cx="457200" cy="457200"/>
          </a:xfrm>
          <a:prstGeom prst="rect">
            <a:avLst/>
          </a:prstGeom>
          <a:noFill/>
          <a:ln/>
        </p:spPr>
        <p:txBody>
          <a:bodyPr wrap="square" rtlCol="0" anchor="ctr"/>
          <a:lstStyle/>
          <a:p>
            <a:pPr algn="ctr" indent="0" marL="0">
              <a:buNone/>
            </a:pPr>
            <a:r>
              <a:rPr lang="en-US" sz="1800" b="1" dirty="0">
                <a:solidFill>
                  <a:srgbClr val="00A495"/>
                </a:solidFill>
                <a:latin typeface="Noto Sans JP" pitchFamily="34" charset="0"/>
                <a:ea typeface="Noto Sans JP" pitchFamily="34" charset="-122"/>
                <a:cs typeface="Noto Sans JP" pitchFamily="34" charset="-120"/>
              </a:rPr>
              <a:t>3</a:t>
            </a:r>
            <a:endParaRPr lang="en-US" sz="1800" dirty="0"/>
          </a:p>
        </p:txBody>
      </p:sp>
      <p:sp>
        <p:nvSpPr>
          <p:cNvPr id="14" name="Text 12"/>
          <p:cNvSpPr/>
          <p:nvPr/>
        </p:nvSpPr>
        <p:spPr>
          <a:xfrm>
            <a:off x="1188720" y="3657600"/>
            <a:ext cx="7406640" cy="457200"/>
          </a:xfrm>
          <a:prstGeom prst="rect">
            <a:avLst/>
          </a:prstGeom>
          <a:noFill/>
          <a:ln/>
        </p:spPr>
        <p:txBody>
          <a:bodyPr wrap="square" rtlCol="0" anchor="ctr"/>
          <a:lstStyle/>
          <a:p>
            <a:pPr indent="0" marL="0">
              <a:buNone/>
            </a:pPr>
            <a:r>
              <a:rPr lang="en-US" sz="1600" dirty="0">
                <a:solidFill>
                  <a:srgbClr val="2C3E3B"/>
                </a:solidFill>
                <a:latin typeface="Noto Sans JP" pitchFamily="34" charset="0"/>
                <a:ea typeface="Noto Sans JP" pitchFamily="34" charset="-122"/>
                <a:cs typeface="Noto Sans JP" pitchFamily="34" charset="-120"/>
              </a:rPr>
              <a:t>マーケターのクリエイティブ業務・戦略立案への注力</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0A495"/>
          </a:solidFill>
          <a:ln/>
        </p:spPr>
      </p:sp>
      <p:sp>
        <p:nvSpPr>
          <p:cNvPr id="3" name="Text 1"/>
          <p:cNvSpPr/>
          <p:nvPr/>
        </p:nvSpPr>
        <p:spPr>
          <a:xfrm>
            <a:off x="548640" y="731520"/>
            <a:ext cx="3657600" cy="1828800"/>
          </a:xfrm>
          <a:prstGeom prst="rect">
            <a:avLst/>
          </a:prstGeom>
          <a:noFill/>
          <a:ln/>
        </p:spPr>
        <p:txBody>
          <a:bodyPr wrap="square" rtlCol="0" anchor="ctr"/>
          <a:lstStyle/>
          <a:p>
            <a:pPr indent="0" marL="0">
              <a:buNone/>
            </a:pPr>
            <a:r>
              <a:rPr lang="en-US" sz="8000" b="1" dirty="0">
                <a:solidFill>
                  <a:srgbClr val="FABF00"/>
                </a:solidFill>
                <a:latin typeface="Noto Sans JP" pitchFamily="34" charset="0"/>
                <a:ea typeface="Noto Sans JP" pitchFamily="34" charset="-122"/>
                <a:cs typeface="Noto Sans JP" pitchFamily="34" charset="-120"/>
              </a:rPr>
              <a:t>01</a:t>
            </a:r>
            <a:endParaRPr lang="en-US" sz="8000" dirty="0"/>
          </a:p>
        </p:txBody>
      </p:sp>
      <p:sp>
        <p:nvSpPr>
          <p:cNvPr id="4" name="Shape 2"/>
          <p:cNvSpPr/>
          <p:nvPr/>
        </p:nvSpPr>
        <p:spPr>
          <a:xfrm>
            <a:off x="548640" y="2651760"/>
            <a:ext cx="1828800" cy="54864"/>
          </a:xfrm>
          <a:prstGeom prst="rect">
            <a:avLst/>
          </a:prstGeom>
          <a:solidFill>
            <a:srgbClr val="FABF00"/>
          </a:solidFill>
          <a:ln/>
        </p:spPr>
      </p:sp>
      <p:sp>
        <p:nvSpPr>
          <p:cNvPr id="5" name="Text 3"/>
          <p:cNvSpPr/>
          <p:nvPr/>
        </p:nvSpPr>
        <p:spPr>
          <a:xfrm>
            <a:off x="548640" y="2926080"/>
            <a:ext cx="8046720" cy="914400"/>
          </a:xfrm>
          <a:prstGeom prst="rect">
            <a:avLst/>
          </a:prstGeom>
          <a:noFill/>
          <a:ln/>
        </p:spPr>
        <p:txBody>
          <a:bodyPr wrap="square" rtlCol="0" anchor="t"/>
          <a:lstStyle/>
          <a:p>
            <a:pPr indent="0" marL="0">
              <a:buNone/>
            </a:pPr>
            <a:r>
              <a:rPr lang="en-US" sz="3200" b="1" dirty="0">
                <a:solidFill>
                  <a:srgbClr val="FFFFFF"/>
                </a:solidFill>
                <a:latin typeface="Noto Sans JP" pitchFamily="34" charset="0"/>
                <a:ea typeface="Noto Sans JP" pitchFamily="34" charset="-122"/>
                <a:cs typeface="Noto Sans JP" pitchFamily="34" charset="-120"/>
              </a:rPr>
              <a:t>AIマーケティングの現状と課題</a:t>
            </a:r>
            <a:endParaRPr lang="en-US" sz="3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rtlCol="0" anchor="ctr"/>
          <a:lstStyle/>
          <a:p>
            <a:pPr indent="0" marL="0">
              <a:buNone/>
            </a:pPr>
            <a:r>
              <a:rPr lang="en-US" sz="2400" b="1" dirty="0">
                <a:solidFill>
                  <a:srgbClr val="2C3E3B"/>
                </a:solidFill>
                <a:latin typeface="Noto Sans JP" pitchFamily="34" charset="0"/>
                <a:ea typeface="Noto Sans JP" pitchFamily="34" charset="-122"/>
                <a:cs typeface="Noto Sans JP" pitchFamily="34" charset="-120"/>
              </a:rPr>
              <a:t>従来のマーケティングとAI活用の違い</a:t>
            </a:r>
            <a:endParaRPr lang="en-US" sz="2400" dirty="0"/>
          </a:p>
        </p:txBody>
      </p:sp>
      <p:sp>
        <p:nvSpPr>
          <p:cNvPr id="3" name="Shape 1"/>
          <p:cNvSpPr/>
          <p:nvPr/>
        </p:nvSpPr>
        <p:spPr>
          <a:xfrm>
            <a:off x="548640" y="731520"/>
            <a:ext cx="1097280" cy="36576"/>
          </a:xfrm>
          <a:prstGeom prst="rect">
            <a:avLst/>
          </a:prstGeom>
          <a:solidFill>
            <a:srgbClr val="FABF00"/>
          </a:solidFill>
          <a:ln/>
        </p:spPr>
      </p:sp>
      <p:sp>
        <p:nvSpPr>
          <p:cNvPr id="4" name="Shape 2"/>
          <p:cNvSpPr/>
          <p:nvPr/>
        </p:nvSpPr>
        <p:spPr>
          <a:xfrm>
            <a:off x="548640" y="822960"/>
            <a:ext cx="8046720" cy="457200"/>
          </a:xfrm>
          <a:prstGeom prst="rect">
            <a:avLst>
              <a:gd name="adj" fmla="val 10000"/>
            </a:avLst>
          </a:prstGeom>
          <a:solidFill>
            <a:srgbClr val="00A495"/>
          </a:solidFill>
          <a:ln/>
        </p:spPr>
      </p:sp>
      <p:sp>
        <p:nvSpPr>
          <p:cNvPr id="5" name="Shape 3"/>
          <p:cNvSpPr/>
          <p:nvPr/>
        </p:nvSpPr>
        <p:spPr>
          <a:xfrm>
            <a:off x="548640" y="822960"/>
            <a:ext cx="54864" cy="457200"/>
          </a:xfrm>
          <a:prstGeom prst="rect">
            <a:avLst/>
          </a:prstGeom>
          <a:solidFill>
            <a:srgbClr val="FABF00"/>
          </a:solidFill>
          <a:ln/>
        </p:spPr>
      </p:sp>
      <p:sp>
        <p:nvSpPr>
          <p:cNvPr id="6" name="Text 4"/>
          <p:cNvSpPr/>
          <p:nvPr/>
        </p:nvSpPr>
        <p:spPr>
          <a:xfrm>
            <a:off x="822960" y="822960"/>
            <a:ext cx="7589520" cy="457200"/>
          </a:xfrm>
          <a:prstGeom prst="rect">
            <a:avLst/>
          </a:prstGeom>
          <a:noFill/>
          <a:ln/>
        </p:spPr>
        <p:txBody>
          <a:bodyPr wrap="square" rtlCol="0" anchor="ctr"/>
          <a:lstStyle/>
          <a:p>
            <a:pPr indent="0" marL="0">
              <a:buNone/>
            </a:pPr>
            <a:r>
              <a:rPr lang="en-US" sz="1600" b="1" dirty="0">
                <a:solidFill>
                  <a:srgbClr val="FFFFFF"/>
                </a:solidFill>
                <a:latin typeface="Noto Sans JP" pitchFamily="34" charset="0"/>
                <a:ea typeface="Noto Sans JP" pitchFamily="34" charset="-122"/>
                <a:cs typeface="Noto Sans JP" pitchFamily="34" charset="-120"/>
              </a:rPr>
              <a:t>AIにより「マス」から「個」へのアプローチが現実のものに</a:t>
            </a:r>
            <a:endParaRPr lang="en-US" sz="1600" dirty="0"/>
          </a:p>
        </p:txBody>
      </p:sp>
      <p:sp>
        <p:nvSpPr>
          <p:cNvPr id="7" name="Shape 5"/>
          <p:cNvSpPr/>
          <p:nvPr/>
        </p:nvSpPr>
        <p:spPr>
          <a:xfrm>
            <a:off x="548640" y="1463040"/>
            <a:ext cx="3840480" cy="502920"/>
          </a:xfrm>
          <a:prstGeom prst="rect">
            <a:avLst>
              <a:gd name="adj" fmla="val 14545"/>
            </a:avLst>
          </a:prstGeom>
          <a:solidFill>
            <a:srgbClr val="7A8C89"/>
          </a:solidFill>
          <a:ln/>
        </p:spPr>
      </p:sp>
      <p:sp>
        <p:nvSpPr>
          <p:cNvPr id="8" name="Text 6"/>
          <p:cNvSpPr/>
          <p:nvPr/>
        </p:nvSpPr>
        <p:spPr>
          <a:xfrm>
            <a:off x="548640" y="1463040"/>
            <a:ext cx="3840480" cy="502920"/>
          </a:xfrm>
          <a:prstGeom prst="rect">
            <a:avLst/>
          </a:prstGeom>
          <a:noFill/>
          <a:ln/>
        </p:spPr>
        <p:txBody>
          <a:bodyPr wrap="square" rtlCol="0" anchor="ctr"/>
          <a:lstStyle/>
          <a:p>
            <a:pPr algn="ctr" indent="0" marL="0">
              <a:buNone/>
            </a:pPr>
            <a:r>
              <a:rPr lang="en-US" sz="1600" b="1" dirty="0">
                <a:solidFill>
                  <a:srgbClr val="FFFFFF"/>
                </a:solidFill>
                <a:latin typeface="Noto Sans JP" pitchFamily="34" charset="0"/>
                <a:ea typeface="Noto Sans JP" pitchFamily="34" charset="-122"/>
                <a:cs typeface="Noto Sans JP" pitchFamily="34" charset="-120"/>
              </a:rPr>
              <a:t>従来のマーケティング</a:t>
            </a:r>
            <a:endParaRPr lang="en-US" sz="1600" dirty="0"/>
          </a:p>
        </p:txBody>
      </p:sp>
      <p:sp>
        <p:nvSpPr>
          <p:cNvPr id="9" name="Shape 7"/>
          <p:cNvSpPr/>
          <p:nvPr/>
        </p:nvSpPr>
        <p:spPr>
          <a:xfrm>
            <a:off x="548640" y="1965960"/>
            <a:ext cx="3840480" cy="2743200"/>
          </a:xfrm>
          <a:prstGeom prst="rect">
            <a:avLst>
              <a:gd name="adj" fmla="val 2667"/>
            </a:avLst>
          </a:prstGeom>
          <a:solidFill>
            <a:srgbClr val="F5F8F7"/>
          </a:solidFill>
          <a:ln/>
        </p:spPr>
      </p:sp>
      <p:sp>
        <p:nvSpPr>
          <p:cNvPr id="10" name="Text 8"/>
          <p:cNvSpPr/>
          <p:nvPr/>
        </p:nvSpPr>
        <p:spPr>
          <a:xfrm>
            <a:off x="731520" y="2148840"/>
            <a:ext cx="3474720" cy="2377440"/>
          </a:xfrm>
          <a:prstGeom prst="rect">
            <a:avLst/>
          </a:prstGeom>
          <a:noFill/>
          <a:ln/>
        </p:spPr>
        <p:txBody>
          <a:bodyPr wrap="square" rtlCol="0" anchor="t"/>
          <a:lstStyle/>
          <a:p>
            <a:pPr indent="0" marL="0">
              <a:lnSpc>
                <a:spcPct val="150000"/>
              </a:lnSpc>
              <a:buNone/>
            </a:pPr>
            <a:r>
              <a:rPr lang="en-US" sz="1600" dirty="0">
                <a:solidFill>
                  <a:srgbClr val="4A5B58"/>
                </a:solidFill>
                <a:latin typeface="Noto Sans JP" pitchFamily="34" charset="0"/>
                <a:ea typeface="Noto Sans JP" pitchFamily="34" charset="-122"/>
                <a:cs typeface="Noto Sans JP" pitchFamily="34" charset="-120"/>
              </a:rPr>
              <a:t>・経験と直感に大きく依存した施策展開</a:t>
            </a:r>
            <a:endParaRPr lang="en-US" sz="1600" dirty="0"/>
          </a:p>
          <a:p>
            <a:pPr indent="0" marL="0">
              <a:lnSpc>
                <a:spcPct val="150000"/>
              </a:lnSpc>
              <a:buNone/>
            </a:pPr>
            <a:r>
              <a:rPr lang="en-US" sz="1600" dirty="0">
                <a:solidFill>
                  <a:srgbClr val="4A5B58"/>
                </a:solidFill>
                <a:latin typeface="Noto Sans JP" pitchFamily="34" charset="0"/>
                <a:ea typeface="Noto Sans JP" pitchFamily="34" charset="-122"/>
                <a:cs typeface="Noto Sans JP" pitchFamily="34" charset="-120"/>
              </a:rPr>
              <a:t>・マス向け・セグメント単位の画一的なメッセージ</a:t>
            </a:r>
            <a:endParaRPr lang="en-US" sz="1600" dirty="0"/>
          </a:p>
          <a:p>
            <a:pPr indent="0" marL="0">
              <a:lnSpc>
                <a:spcPct val="150000"/>
              </a:lnSpc>
              <a:buNone/>
            </a:pPr>
            <a:r>
              <a:rPr lang="en-US" sz="1600" dirty="0">
                <a:solidFill>
                  <a:srgbClr val="4A5B58"/>
                </a:solidFill>
                <a:latin typeface="Noto Sans JP" pitchFamily="34" charset="0"/>
                <a:ea typeface="Noto Sans JP" pitchFamily="34" charset="-122"/>
                <a:cs typeface="Noto Sans JP" pitchFamily="34" charset="-120"/>
              </a:rPr>
              <a:t>・手作業によるデータ分析（多大な時間と工数）</a:t>
            </a:r>
            <a:endParaRPr lang="en-US" sz="1600" dirty="0"/>
          </a:p>
          <a:p>
            <a:pPr indent="0" marL="0">
              <a:lnSpc>
                <a:spcPct val="150000"/>
              </a:lnSpc>
              <a:buNone/>
            </a:pPr>
            <a:r>
              <a:rPr lang="en-US" sz="1600" dirty="0">
                <a:solidFill>
                  <a:srgbClr val="4A5B58"/>
                </a:solidFill>
                <a:latin typeface="Noto Sans JP" pitchFamily="34" charset="0"/>
                <a:ea typeface="Noto Sans JP" pitchFamily="34" charset="-122"/>
                <a:cs typeface="Noto Sans JP" pitchFamily="34" charset="-120"/>
              </a:rPr>
              <a:t>・施策実施後の事後的な効果検証</a:t>
            </a:r>
            <a:endParaRPr lang="en-US" sz="1600" dirty="0"/>
          </a:p>
        </p:txBody>
      </p:sp>
      <p:sp>
        <p:nvSpPr>
          <p:cNvPr id="11" name="Text 9"/>
          <p:cNvSpPr/>
          <p:nvPr/>
        </p:nvSpPr>
        <p:spPr>
          <a:xfrm>
            <a:off x="4389120" y="1463040"/>
            <a:ext cx="365760" cy="502920"/>
          </a:xfrm>
          <a:prstGeom prst="rect">
            <a:avLst/>
          </a:prstGeom>
          <a:noFill/>
          <a:ln/>
        </p:spPr>
        <p:txBody>
          <a:bodyPr wrap="square" rtlCol="0" anchor="ctr"/>
          <a:lstStyle/>
          <a:p>
            <a:pPr algn="ctr" indent="0" marL="0">
              <a:buNone/>
            </a:pPr>
            <a:r>
              <a:rPr lang="en-US" sz="1600" b="1" dirty="0">
                <a:solidFill>
                  <a:srgbClr val="2C3E3B"/>
                </a:solidFill>
                <a:latin typeface="Noto Sans JP" pitchFamily="34" charset="0"/>
                <a:ea typeface="Noto Sans JP" pitchFamily="34" charset="-122"/>
                <a:cs typeface="Noto Sans JP" pitchFamily="34" charset="-120"/>
              </a:rPr>
              <a:t>VS</a:t>
            </a:r>
            <a:endParaRPr lang="en-US" sz="1600" dirty="0"/>
          </a:p>
        </p:txBody>
      </p:sp>
      <p:sp>
        <p:nvSpPr>
          <p:cNvPr id="12" name="Shape 10"/>
          <p:cNvSpPr/>
          <p:nvPr/>
        </p:nvSpPr>
        <p:spPr>
          <a:xfrm>
            <a:off x="4754880" y="1463040"/>
            <a:ext cx="3840480" cy="502920"/>
          </a:xfrm>
          <a:prstGeom prst="rect">
            <a:avLst>
              <a:gd name="adj" fmla="val 14545"/>
            </a:avLst>
          </a:prstGeom>
          <a:solidFill>
            <a:srgbClr val="00A495"/>
          </a:solidFill>
          <a:ln/>
        </p:spPr>
      </p:sp>
      <p:sp>
        <p:nvSpPr>
          <p:cNvPr id="13" name="Text 11"/>
          <p:cNvSpPr/>
          <p:nvPr/>
        </p:nvSpPr>
        <p:spPr>
          <a:xfrm>
            <a:off x="4754880" y="1463040"/>
            <a:ext cx="3840480" cy="502920"/>
          </a:xfrm>
          <a:prstGeom prst="rect">
            <a:avLst/>
          </a:prstGeom>
          <a:noFill/>
          <a:ln/>
        </p:spPr>
        <p:txBody>
          <a:bodyPr wrap="square" rtlCol="0" anchor="ctr"/>
          <a:lstStyle/>
          <a:p>
            <a:pPr algn="ctr" indent="0" marL="0">
              <a:buNone/>
            </a:pPr>
            <a:r>
              <a:rPr lang="en-US" sz="1600" b="1" dirty="0">
                <a:solidFill>
                  <a:srgbClr val="FFFFFF"/>
                </a:solidFill>
                <a:latin typeface="Noto Sans JP" pitchFamily="34" charset="0"/>
                <a:ea typeface="Noto Sans JP" pitchFamily="34" charset="-122"/>
                <a:cs typeface="Noto Sans JP" pitchFamily="34" charset="-120"/>
              </a:rPr>
              <a:t>AIを活用したマーケティング</a:t>
            </a:r>
            <a:endParaRPr lang="en-US" sz="1600" dirty="0"/>
          </a:p>
        </p:txBody>
      </p:sp>
      <p:sp>
        <p:nvSpPr>
          <p:cNvPr id="14" name="Shape 12"/>
          <p:cNvSpPr/>
          <p:nvPr/>
        </p:nvSpPr>
        <p:spPr>
          <a:xfrm>
            <a:off x="4754880" y="1965960"/>
            <a:ext cx="3840480" cy="2743200"/>
          </a:xfrm>
          <a:prstGeom prst="rect">
            <a:avLst>
              <a:gd name="adj" fmla="val 2667"/>
            </a:avLst>
          </a:prstGeom>
          <a:solidFill>
            <a:srgbClr val="F5F8F7"/>
          </a:solidFill>
          <a:ln/>
        </p:spPr>
      </p:sp>
      <p:sp>
        <p:nvSpPr>
          <p:cNvPr id="15" name="Text 13"/>
          <p:cNvSpPr/>
          <p:nvPr/>
        </p:nvSpPr>
        <p:spPr>
          <a:xfrm>
            <a:off x="4937760" y="2148840"/>
            <a:ext cx="3474720" cy="2377440"/>
          </a:xfrm>
          <a:prstGeom prst="rect">
            <a:avLst/>
          </a:prstGeom>
          <a:noFill/>
          <a:ln/>
        </p:spPr>
        <p:txBody>
          <a:bodyPr wrap="square" rtlCol="0" anchor="t"/>
          <a:lstStyle/>
          <a:p>
            <a:pPr indent="0" marL="0">
              <a:lnSpc>
                <a:spcPct val="150000"/>
              </a:lnSpc>
              <a:buNone/>
            </a:pPr>
            <a:r>
              <a:rPr lang="en-US" sz="1600" dirty="0">
                <a:solidFill>
                  <a:srgbClr val="4A5B58"/>
                </a:solidFill>
                <a:latin typeface="Noto Sans JP" pitchFamily="34" charset="0"/>
                <a:ea typeface="Noto Sans JP" pitchFamily="34" charset="-122"/>
                <a:cs typeface="Noto Sans JP" pitchFamily="34" charset="-120"/>
              </a:rPr>
              <a:t>・統合データに基づくデータドリブンな意思決定</a:t>
            </a:r>
            <a:endParaRPr lang="en-US" sz="1600" dirty="0"/>
          </a:p>
          <a:p>
            <a:pPr indent="0" marL="0">
              <a:lnSpc>
                <a:spcPct val="150000"/>
              </a:lnSpc>
              <a:buNone/>
            </a:pPr>
            <a:r>
              <a:rPr lang="en-US" sz="1600" dirty="0">
                <a:solidFill>
                  <a:srgbClr val="4A5B58"/>
                </a:solidFill>
                <a:latin typeface="Noto Sans JP" pitchFamily="34" charset="0"/>
                <a:ea typeface="Noto Sans JP" pitchFamily="34" charset="-122"/>
                <a:cs typeface="Noto Sans JP" pitchFamily="34" charset="-120"/>
              </a:rPr>
              <a:t>・個客ごとの行動・嗜好に合わせたOne to One体験</a:t>
            </a:r>
            <a:endParaRPr lang="en-US" sz="1600" dirty="0"/>
          </a:p>
          <a:p>
            <a:pPr indent="0" marL="0">
              <a:lnSpc>
                <a:spcPct val="150000"/>
              </a:lnSpc>
              <a:buNone/>
            </a:pPr>
            <a:r>
              <a:rPr lang="en-US" sz="1600" dirty="0">
                <a:solidFill>
                  <a:srgbClr val="4A5B58"/>
                </a:solidFill>
                <a:latin typeface="Noto Sans JP" pitchFamily="34" charset="0"/>
                <a:ea typeface="Noto Sans JP" pitchFamily="34" charset="-122"/>
                <a:cs typeface="Noto Sans JP" pitchFamily="34" charset="-120"/>
              </a:rPr>
              <a:t>・機械学習による高度で高速なインサイト抽出と予測</a:t>
            </a:r>
            <a:endParaRPr lang="en-US" sz="1600" dirty="0"/>
          </a:p>
          <a:p>
            <a:pPr indent="0" marL="0">
              <a:lnSpc>
                <a:spcPct val="150000"/>
              </a:lnSpc>
              <a:buNone/>
            </a:pPr>
            <a:r>
              <a:rPr lang="en-US" sz="1600" dirty="0">
                <a:solidFill>
                  <a:srgbClr val="4A5B58"/>
                </a:solidFill>
                <a:latin typeface="Noto Sans JP" pitchFamily="34" charset="0"/>
                <a:ea typeface="Noto Sans JP" pitchFamily="34" charset="-122"/>
                <a:cs typeface="Noto Sans JP" pitchFamily="34" charset="-120"/>
              </a:rPr>
              <a:t>・リアルタイムな効果測定と施策の自動最適化</a:t>
            </a:r>
            <a:endParaRPr lang="en-US" sz="1600" dirty="0"/>
          </a:p>
        </p:txBody>
      </p:sp>
      <p:sp>
        <p:nvSpPr>
          <p:cNvPr id="16" name="Text 14"/>
          <p:cNvSpPr/>
          <p:nvPr/>
        </p:nvSpPr>
        <p:spPr>
          <a:xfrm>
            <a:off x="548640" y="4663440"/>
            <a:ext cx="8046720" cy="274320"/>
          </a:xfrm>
          <a:prstGeom prst="rect">
            <a:avLst/>
          </a:prstGeom>
          <a:noFill/>
          <a:ln/>
        </p:spPr>
        <p:txBody>
          <a:bodyPr wrap="square" rtlCol="0" anchor="b"/>
          <a:lstStyle/>
          <a:p>
            <a:pPr indent="0" marL="0">
              <a:buNone/>
            </a:pPr>
            <a:r>
              <a:rPr lang="en-US" sz="1200" dirty="0">
                <a:solidFill>
                  <a:srgbClr val="7A8C89"/>
                </a:solidFill>
                <a:latin typeface="Noto Sans JP" pitchFamily="34" charset="0"/>
                <a:ea typeface="Noto Sans JP" pitchFamily="34" charset="-122"/>
                <a:cs typeface="Noto Sans JP" pitchFamily="34" charset="-120"/>
              </a:rPr>
              <a:t>出所: 社内検討資料および市場調査データより</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0A495"/>
          </a:solidFill>
          <a:ln/>
        </p:spPr>
      </p:sp>
      <p:sp>
        <p:nvSpPr>
          <p:cNvPr id="3" name="Text 1"/>
          <p:cNvSpPr/>
          <p:nvPr/>
        </p:nvSpPr>
        <p:spPr>
          <a:xfrm>
            <a:off x="548640" y="731520"/>
            <a:ext cx="3657600" cy="1828800"/>
          </a:xfrm>
          <a:prstGeom prst="rect">
            <a:avLst/>
          </a:prstGeom>
          <a:noFill/>
          <a:ln/>
        </p:spPr>
        <p:txBody>
          <a:bodyPr wrap="square" rtlCol="0" anchor="ctr"/>
          <a:lstStyle/>
          <a:p>
            <a:pPr indent="0" marL="0">
              <a:buNone/>
            </a:pPr>
            <a:r>
              <a:rPr lang="en-US" sz="8000" b="1" dirty="0">
                <a:solidFill>
                  <a:srgbClr val="FABF00"/>
                </a:solidFill>
                <a:latin typeface="Noto Sans JP" pitchFamily="34" charset="0"/>
                <a:ea typeface="Noto Sans JP" pitchFamily="34" charset="-122"/>
                <a:cs typeface="Noto Sans JP" pitchFamily="34" charset="-120"/>
              </a:rPr>
              <a:t>02</a:t>
            </a:r>
            <a:endParaRPr lang="en-US" sz="8000" dirty="0"/>
          </a:p>
        </p:txBody>
      </p:sp>
      <p:sp>
        <p:nvSpPr>
          <p:cNvPr id="4" name="Shape 2"/>
          <p:cNvSpPr/>
          <p:nvPr/>
        </p:nvSpPr>
        <p:spPr>
          <a:xfrm>
            <a:off x="548640" y="2651760"/>
            <a:ext cx="1828800" cy="54864"/>
          </a:xfrm>
          <a:prstGeom prst="rect">
            <a:avLst/>
          </a:prstGeom>
          <a:solidFill>
            <a:srgbClr val="FABF00"/>
          </a:solidFill>
          <a:ln/>
        </p:spPr>
      </p:sp>
      <p:sp>
        <p:nvSpPr>
          <p:cNvPr id="5" name="Text 3"/>
          <p:cNvSpPr/>
          <p:nvPr/>
        </p:nvSpPr>
        <p:spPr>
          <a:xfrm>
            <a:off x="548640" y="2926080"/>
            <a:ext cx="8046720" cy="914400"/>
          </a:xfrm>
          <a:prstGeom prst="rect">
            <a:avLst/>
          </a:prstGeom>
          <a:noFill/>
          <a:ln/>
        </p:spPr>
        <p:txBody>
          <a:bodyPr wrap="square" rtlCol="0" anchor="t"/>
          <a:lstStyle/>
          <a:p>
            <a:pPr indent="0" marL="0">
              <a:buNone/>
            </a:pPr>
            <a:r>
              <a:rPr lang="en-US" sz="3200" b="1" dirty="0">
                <a:solidFill>
                  <a:srgbClr val="FFFFFF"/>
                </a:solidFill>
                <a:latin typeface="Noto Sans JP" pitchFamily="34" charset="0"/>
                <a:ea typeface="Noto Sans JP" pitchFamily="34" charset="-122"/>
                <a:cs typeface="Noto Sans JP" pitchFamily="34" charset="-120"/>
              </a:rPr>
              <a:t>マーケティングにおけるAIの主要な活用領域</a:t>
            </a:r>
            <a:endParaRPr lang="en-US" sz="3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rtlCol="0" anchor="ctr"/>
          <a:lstStyle/>
          <a:p>
            <a:pPr indent="0" marL="0">
              <a:buNone/>
            </a:pPr>
            <a:r>
              <a:rPr lang="en-US" sz="2400" b="1" dirty="0">
                <a:solidFill>
                  <a:srgbClr val="2C3E3B"/>
                </a:solidFill>
                <a:latin typeface="Noto Sans JP" pitchFamily="34" charset="0"/>
                <a:ea typeface="Noto Sans JP" pitchFamily="34" charset="-122"/>
                <a:cs typeface="Noto Sans JP" pitchFamily="34" charset="-120"/>
              </a:rPr>
              <a:t>AIのマーケティング活用領域</a:t>
            </a:r>
            <a:endParaRPr lang="en-US" sz="2400" dirty="0"/>
          </a:p>
        </p:txBody>
      </p:sp>
      <p:sp>
        <p:nvSpPr>
          <p:cNvPr id="3" name="Shape 1"/>
          <p:cNvSpPr/>
          <p:nvPr/>
        </p:nvSpPr>
        <p:spPr>
          <a:xfrm>
            <a:off x="548640" y="731520"/>
            <a:ext cx="1097280" cy="36576"/>
          </a:xfrm>
          <a:prstGeom prst="rect">
            <a:avLst/>
          </a:prstGeom>
          <a:solidFill>
            <a:srgbClr val="FABF00"/>
          </a:solidFill>
          <a:ln/>
        </p:spPr>
      </p:sp>
      <p:sp>
        <p:nvSpPr>
          <p:cNvPr id="4" name="Shape 2"/>
          <p:cNvSpPr/>
          <p:nvPr/>
        </p:nvSpPr>
        <p:spPr>
          <a:xfrm>
            <a:off x="548640" y="822960"/>
            <a:ext cx="8046720" cy="457200"/>
          </a:xfrm>
          <a:prstGeom prst="rect">
            <a:avLst>
              <a:gd name="adj" fmla="val 10000"/>
            </a:avLst>
          </a:prstGeom>
          <a:solidFill>
            <a:srgbClr val="00A495"/>
          </a:solidFill>
          <a:ln/>
        </p:spPr>
      </p:sp>
      <p:sp>
        <p:nvSpPr>
          <p:cNvPr id="5" name="Shape 3"/>
          <p:cNvSpPr/>
          <p:nvPr/>
        </p:nvSpPr>
        <p:spPr>
          <a:xfrm>
            <a:off x="548640" y="822960"/>
            <a:ext cx="54864" cy="457200"/>
          </a:xfrm>
          <a:prstGeom prst="rect">
            <a:avLst/>
          </a:prstGeom>
          <a:solidFill>
            <a:srgbClr val="FABF00"/>
          </a:solidFill>
          <a:ln/>
        </p:spPr>
      </p:sp>
      <p:sp>
        <p:nvSpPr>
          <p:cNvPr id="6" name="Text 4"/>
          <p:cNvSpPr/>
          <p:nvPr/>
        </p:nvSpPr>
        <p:spPr>
          <a:xfrm>
            <a:off x="822960" y="822960"/>
            <a:ext cx="7589520" cy="457200"/>
          </a:xfrm>
          <a:prstGeom prst="rect">
            <a:avLst/>
          </a:prstGeom>
          <a:noFill/>
          <a:ln/>
        </p:spPr>
        <p:txBody>
          <a:bodyPr wrap="square" rtlCol="0" anchor="ctr"/>
          <a:lstStyle/>
          <a:p>
            <a:pPr indent="0" marL="0">
              <a:buNone/>
            </a:pPr>
            <a:r>
              <a:rPr lang="en-US" sz="1600" b="1" dirty="0">
                <a:solidFill>
                  <a:srgbClr val="FFFFFF"/>
                </a:solidFill>
                <a:latin typeface="Noto Sans JP" pitchFamily="34" charset="0"/>
                <a:ea typeface="Noto Sans JP" pitchFamily="34" charset="-122"/>
                <a:cs typeface="Noto Sans JP" pitchFamily="34" charset="-120"/>
              </a:rPr>
              <a:t>顧客接点からバックエンドの分析・予測まで、全ファネルでAIの適用が進む</a:t>
            </a:r>
            <a:endParaRPr lang="en-US" sz="1600" dirty="0"/>
          </a:p>
        </p:txBody>
      </p:sp>
      <p:sp>
        <p:nvSpPr>
          <p:cNvPr id="7" name="Shape 5"/>
          <p:cNvSpPr/>
          <p:nvPr/>
        </p:nvSpPr>
        <p:spPr>
          <a:xfrm>
            <a:off x="548640" y="1554480"/>
            <a:ext cx="1828800" cy="2743200"/>
          </a:xfrm>
          <a:prstGeom prst="rect">
            <a:avLst>
              <a:gd name="adj" fmla="val 5000"/>
            </a:avLst>
          </a:prstGeom>
          <a:solidFill>
            <a:srgbClr val="00A495"/>
          </a:solidFill>
          <a:ln/>
        </p:spPr>
      </p:sp>
      <p:sp>
        <p:nvSpPr>
          <p:cNvPr id="8" name="Text 6"/>
          <p:cNvSpPr/>
          <p:nvPr/>
        </p:nvSpPr>
        <p:spPr>
          <a:xfrm>
            <a:off x="548640" y="1554480"/>
            <a:ext cx="1828800" cy="2743200"/>
          </a:xfrm>
          <a:prstGeom prst="rect">
            <a:avLst/>
          </a:prstGeom>
          <a:noFill/>
          <a:ln/>
        </p:spPr>
        <p:txBody>
          <a:bodyPr wrap="square" rtlCol="0" anchor="ctr"/>
          <a:lstStyle/>
          <a:p>
            <a:pPr algn="ctr" indent="0" marL="0">
              <a:buNone/>
            </a:pPr>
            <a:r>
              <a:rPr lang="en-US" sz="2000" b="1" dirty="0">
                <a:solidFill>
                  <a:srgbClr val="FFFFFF"/>
                </a:solidFill>
                <a:latin typeface="Noto Sans JP" pitchFamily="34" charset="0"/>
                <a:ea typeface="Noto Sans JP" pitchFamily="34" charset="-122"/>
                <a:cs typeface="Noto Sans JP" pitchFamily="34" charset="-120"/>
              </a:rPr>
              <a:t>主要なAI活用テーマ</a:t>
            </a:r>
            <a:endParaRPr lang="en-US" sz="2000" dirty="0"/>
          </a:p>
        </p:txBody>
      </p:sp>
      <p:sp>
        <p:nvSpPr>
          <p:cNvPr id="9" name="Shape 7"/>
          <p:cNvSpPr/>
          <p:nvPr/>
        </p:nvSpPr>
        <p:spPr>
          <a:xfrm>
            <a:off x="2743200" y="1645920"/>
            <a:ext cx="457200" cy="502920"/>
          </a:xfrm>
          <a:prstGeom prst="rect">
            <a:avLst>
              <a:gd name="adj" fmla="val 10000"/>
            </a:avLst>
          </a:prstGeom>
          <a:solidFill>
            <a:srgbClr val="FABF00"/>
          </a:solidFill>
          <a:ln/>
        </p:spPr>
      </p:sp>
      <p:sp>
        <p:nvSpPr>
          <p:cNvPr id="10" name="Text 8"/>
          <p:cNvSpPr/>
          <p:nvPr/>
        </p:nvSpPr>
        <p:spPr>
          <a:xfrm>
            <a:off x="2743200" y="1645920"/>
            <a:ext cx="457200" cy="502920"/>
          </a:xfrm>
          <a:prstGeom prst="rect">
            <a:avLst/>
          </a:prstGeom>
          <a:noFill/>
          <a:ln/>
        </p:spPr>
        <p:txBody>
          <a:bodyPr wrap="square" rtlCol="0" anchor="ctr"/>
          <a:lstStyle/>
          <a:p>
            <a:pPr algn="ctr" indent="0" marL="0">
              <a:buNone/>
            </a:pPr>
            <a:r>
              <a:rPr lang="en-US" sz="1800" b="1" dirty="0">
                <a:solidFill>
                  <a:srgbClr val="00A495"/>
                </a:solidFill>
                <a:latin typeface="Noto Sans JP" pitchFamily="34" charset="0"/>
                <a:ea typeface="Noto Sans JP" pitchFamily="34" charset="-122"/>
                <a:cs typeface="Noto Sans JP" pitchFamily="34" charset="-120"/>
              </a:rPr>
              <a:t>1</a:t>
            </a:r>
            <a:endParaRPr lang="en-US" sz="1800" dirty="0"/>
          </a:p>
        </p:txBody>
      </p:sp>
      <p:sp>
        <p:nvSpPr>
          <p:cNvPr id="11" name="Shape 9"/>
          <p:cNvSpPr/>
          <p:nvPr/>
        </p:nvSpPr>
        <p:spPr>
          <a:xfrm>
            <a:off x="3337560" y="1645920"/>
            <a:ext cx="5257800" cy="502920"/>
          </a:xfrm>
          <a:prstGeom prst="rect">
            <a:avLst>
              <a:gd name="adj" fmla="val 9091"/>
            </a:avLst>
          </a:prstGeom>
          <a:solidFill>
            <a:srgbClr val="F5F8F7"/>
          </a:solidFill>
          <a:ln/>
        </p:spPr>
      </p:sp>
      <p:sp>
        <p:nvSpPr>
          <p:cNvPr id="12" name="Text 10"/>
          <p:cNvSpPr/>
          <p:nvPr/>
        </p:nvSpPr>
        <p:spPr>
          <a:xfrm>
            <a:off x="3474720" y="1645920"/>
            <a:ext cx="1828800" cy="502920"/>
          </a:xfrm>
          <a:prstGeom prst="rect">
            <a:avLst/>
          </a:prstGeom>
          <a:noFill/>
          <a:ln/>
        </p:spPr>
        <p:txBody>
          <a:bodyPr wrap="square" rtlCol="0" anchor="ctr"/>
          <a:lstStyle/>
          <a:p>
            <a:pPr indent="0" marL="0">
              <a:buNone/>
            </a:pPr>
            <a:r>
              <a:rPr lang="en-US" sz="1600" b="1" dirty="0">
                <a:solidFill>
                  <a:srgbClr val="2C3E3B"/>
                </a:solidFill>
                <a:latin typeface="Noto Sans JP" pitchFamily="34" charset="0"/>
                <a:ea typeface="Noto Sans JP" pitchFamily="34" charset="-122"/>
                <a:cs typeface="Noto Sans JP" pitchFamily="34" charset="-120"/>
              </a:rPr>
              <a:t>ターゲティング / 需要予測</a:t>
            </a:r>
            <a:endParaRPr lang="en-US" sz="1600" dirty="0"/>
          </a:p>
        </p:txBody>
      </p:sp>
      <p:sp>
        <p:nvSpPr>
          <p:cNvPr id="13" name="Text 11"/>
          <p:cNvSpPr/>
          <p:nvPr/>
        </p:nvSpPr>
        <p:spPr>
          <a:xfrm>
            <a:off x="5303520" y="1645920"/>
            <a:ext cx="3291840" cy="502920"/>
          </a:xfrm>
          <a:prstGeom prst="rect">
            <a:avLst/>
          </a:prstGeom>
          <a:noFill/>
          <a:ln/>
        </p:spPr>
        <p:txBody>
          <a:bodyPr wrap="square" rtlCol="0" anchor="ctr"/>
          <a:lstStyle/>
          <a:p>
            <a:pPr indent="0" marL="0">
              <a:buNone/>
            </a:pPr>
            <a:r>
              <a:rPr lang="en-US" sz="1600" dirty="0">
                <a:solidFill>
                  <a:srgbClr val="4A5B58"/>
                </a:solidFill>
                <a:latin typeface="Noto Sans JP" pitchFamily="34" charset="0"/>
                <a:ea typeface="Noto Sans JP" pitchFamily="34" charset="-122"/>
                <a:cs typeface="Noto Sans JP" pitchFamily="34" charset="-120"/>
              </a:rPr>
              <a:t>LTV予測、解約リスク予測、見込み顧客のスコアリング</a:t>
            </a:r>
            <a:endParaRPr lang="en-US" sz="1600" dirty="0"/>
          </a:p>
        </p:txBody>
      </p:sp>
      <p:sp>
        <p:nvSpPr>
          <p:cNvPr id="14" name="Shape 12"/>
          <p:cNvSpPr/>
          <p:nvPr/>
        </p:nvSpPr>
        <p:spPr>
          <a:xfrm>
            <a:off x="2743200" y="2331720"/>
            <a:ext cx="457200" cy="502920"/>
          </a:xfrm>
          <a:prstGeom prst="rect">
            <a:avLst>
              <a:gd name="adj" fmla="val 10000"/>
            </a:avLst>
          </a:prstGeom>
          <a:solidFill>
            <a:srgbClr val="FABF00"/>
          </a:solidFill>
          <a:ln/>
        </p:spPr>
      </p:sp>
      <p:sp>
        <p:nvSpPr>
          <p:cNvPr id="15" name="Text 13"/>
          <p:cNvSpPr/>
          <p:nvPr/>
        </p:nvSpPr>
        <p:spPr>
          <a:xfrm>
            <a:off x="2743200" y="2331720"/>
            <a:ext cx="457200" cy="502920"/>
          </a:xfrm>
          <a:prstGeom prst="rect">
            <a:avLst/>
          </a:prstGeom>
          <a:noFill/>
          <a:ln/>
        </p:spPr>
        <p:txBody>
          <a:bodyPr wrap="square" rtlCol="0" anchor="ctr"/>
          <a:lstStyle/>
          <a:p>
            <a:pPr algn="ctr" indent="0" marL="0">
              <a:buNone/>
            </a:pPr>
            <a:r>
              <a:rPr lang="en-US" sz="1800" b="1" dirty="0">
                <a:solidFill>
                  <a:srgbClr val="00A495"/>
                </a:solidFill>
                <a:latin typeface="Noto Sans JP" pitchFamily="34" charset="0"/>
                <a:ea typeface="Noto Sans JP" pitchFamily="34" charset="-122"/>
                <a:cs typeface="Noto Sans JP" pitchFamily="34" charset="-120"/>
              </a:rPr>
              <a:t>2</a:t>
            </a:r>
            <a:endParaRPr lang="en-US" sz="1800" dirty="0"/>
          </a:p>
        </p:txBody>
      </p:sp>
      <p:sp>
        <p:nvSpPr>
          <p:cNvPr id="16" name="Shape 14"/>
          <p:cNvSpPr/>
          <p:nvPr/>
        </p:nvSpPr>
        <p:spPr>
          <a:xfrm>
            <a:off x="3337560" y="2331720"/>
            <a:ext cx="5257800" cy="502920"/>
          </a:xfrm>
          <a:prstGeom prst="rect">
            <a:avLst>
              <a:gd name="adj" fmla="val 9091"/>
            </a:avLst>
          </a:prstGeom>
          <a:solidFill>
            <a:srgbClr val="F5F8F7"/>
          </a:solidFill>
          <a:ln/>
        </p:spPr>
      </p:sp>
      <p:sp>
        <p:nvSpPr>
          <p:cNvPr id="17" name="Text 15"/>
          <p:cNvSpPr/>
          <p:nvPr/>
        </p:nvSpPr>
        <p:spPr>
          <a:xfrm>
            <a:off x="3474720" y="2331720"/>
            <a:ext cx="1828800" cy="502920"/>
          </a:xfrm>
          <a:prstGeom prst="rect">
            <a:avLst/>
          </a:prstGeom>
          <a:noFill/>
          <a:ln/>
        </p:spPr>
        <p:txBody>
          <a:bodyPr wrap="square" rtlCol="0" anchor="ctr"/>
          <a:lstStyle/>
          <a:p>
            <a:pPr indent="0" marL="0">
              <a:buNone/>
            </a:pPr>
            <a:r>
              <a:rPr lang="en-US" sz="1600" b="1" dirty="0">
                <a:solidFill>
                  <a:srgbClr val="2C3E3B"/>
                </a:solidFill>
                <a:latin typeface="Noto Sans JP" pitchFamily="34" charset="0"/>
                <a:ea typeface="Noto Sans JP" pitchFamily="34" charset="-122"/>
                <a:cs typeface="Noto Sans JP" pitchFamily="34" charset="-120"/>
              </a:rPr>
              <a:t>パーソナライズ / クリエイティブ</a:t>
            </a:r>
            <a:endParaRPr lang="en-US" sz="1600" dirty="0"/>
          </a:p>
        </p:txBody>
      </p:sp>
      <p:sp>
        <p:nvSpPr>
          <p:cNvPr id="18" name="Text 16"/>
          <p:cNvSpPr/>
          <p:nvPr/>
        </p:nvSpPr>
        <p:spPr>
          <a:xfrm>
            <a:off x="5303520" y="2331720"/>
            <a:ext cx="3291840" cy="502920"/>
          </a:xfrm>
          <a:prstGeom prst="rect">
            <a:avLst/>
          </a:prstGeom>
          <a:noFill/>
          <a:ln/>
        </p:spPr>
        <p:txBody>
          <a:bodyPr wrap="square" rtlCol="0" anchor="ctr"/>
          <a:lstStyle/>
          <a:p>
            <a:pPr indent="0" marL="0">
              <a:buNone/>
            </a:pPr>
            <a:r>
              <a:rPr lang="en-US" sz="1600" dirty="0">
                <a:solidFill>
                  <a:srgbClr val="4A5B58"/>
                </a:solidFill>
                <a:latin typeface="Noto Sans JP" pitchFamily="34" charset="0"/>
                <a:ea typeface="Noto Sans JP" pitchFamily="34" charset="-122"/>
                <a:cs typeface="Noto Sans JP" pitchFamily="34" charset="-120"/>
              </a:rPr>
              <a:t>最適コンテンツの自動生成、Webサイト/アプリの動的最適化</a:t>
            </a:r>
            <a:endParaRPr lang="en-US" sz="1600" dirty="0"/>
          </a:p>
        </p:txBody>
      </p:sp>
      <p:sp>
        <p:nvSpPr>
          <p:cNvPr id="19" name="Shape 17"/>
          <p:cNvSpPr/>
          <p:nvPr/>
        </p:nvSpPr>
        <p:spPr>
          <a:xfrm>
            <a:off x="2743200" y="3017520"/>
            <a:ext cx="457200" cy="502920"/>
          </a:xfrm>
          <a:prstGeom prst="rect">
            <a:avLst>
              <a:gd name="adj" fmla="val 10000"/>
            </a:avLst>
          </a:prstGeom>
          <a:solidFill>
            <a:srgbClr val="FABF00"/>
          </a:solidFill>
          <a:ln/>
        </p:spPr>
      </p:sp>
      <p:sp>
        <p:nvSpPr>
          <p:cNvPr id="20" name="Text 18"/>
          <p:cNvSpPr/>
          <p:nvPr/>
        </p:nvSpPr>
        <p:spPr>
          <a:xfrm>
            <a:off x="2743200" y="3017520"/>
            <a:ext cx="457200" cy="502920"/>
          </a:xfrm>
          <a:prstGeom prst="rect">
            <a:avLst/>
          </a:prstGeom>
          <a:noFill/>
          <a:ln/>
        </p:spPr>
        <p:txBody>
          <a:bodyPr wrap="square" rtlCol="0" anchor="ctr"/>
          <a:lstStyle/>
          <a:p>
            <a:pPr algn="ctr" indent="0" marL="0">
              <a:buNone/>
            </a:pPr>
            <a:r>
              <a:rPr lang="en-US" sz="1800" b="1" dirty="0">
                <a:solidFill>
                  <a:srgbClr val="00A495"/>
                </a:solidFill>
                <a:latin typeface="Noto Sans JP" pitchFamily="34" charset="0"/>
                <a:ea typeface="Noto Sans JP" pitchFamily="34" charset="-122"/>
                <a:cs typeface="Noto Sans JP" pitchFamily="34" charset="-120"/>
              </a:rPr>
              <a:t>3</a:t>
            </a:r>
            <a:endParaRPr lang="en-US" sz="1800" dirty="0"/>
          </a:p>
        </p:txBody>
      </p:sp>
      <p:sp>
        <p:nvSpPr>
          <p:cNvPr id="21" name="Shape 19"/>
          <p:cNvSpPr/>
          <p:nvPr/>
        </p:nvSpPr>
        <p:spPr>
          <a:xfrm>
            <a:off x="3337560" y="3017520"/>
            <a:ext cx="5257800" cy="502920"/>
          </a:xfrm>
          <a:prstGeom prst="rect">
            <a:avLst>
              <a:gd name="adj" fmla="val 9091"/>
            </a:avLst>
          </a:prstGeom>
          <a:solidFill>
            <a:srgbClr val="F5F8F7"/>
          </a:solidFill>
          <a:ln/>
        </p:spPr>
      </p:sp>
      <p:sp>
        <p:nvSpPr>
          <p:cNvPr id="22" name="Text 20"/>
          <p:cNvSpPr/>
          <p:nvPr/>
        </p:nvSpPr>
        <p:spPr>
          <a:xfrm>
            <a:off x="3474720" y="3017520"/>
            <a:ext cx="1828800" cy="502920"/>
          </a:xfrm>
          <a:prstGeom prst="rect">
            <a:avLst/>
          </a:prstGeom>
          <a:noFill/>
          <a:ln/>
        </p:spPr>
        <p:txBody>
          <a:bodyPr wrap="square" rtlCol="0" anchor="ctr"/>
          <a:lstStyle/>
          <a:p>
            <a:pPr indent="0" marL="0">
              <a:buNone/>
            </a:pPr>
            <a:r>
              <a:rPr lang="en-US" sz="1600" b="1" dirty="0">
                <a:solidFill>
                  <a:srgbClr val="2C3E3B"/>
                </a:solidFill>
                <a:latin typeface="Noto Sans JP" pitchFamily="34" charset="0"/>
                <a:ea typeface="Noto Sans JP" pitchFamily="34" charset="-122"/>
                <a:cs typeface="Noto Sans JP" pitchFamily="34" charset="-120"/>
              </a:rPr>
              <a:t>One to One コミュニケーション</a:t>
            </a:r>
            <a:endParaRPr lang="en-US" sz="1600" dirty="0"/>
          </a:p>
        </p:txBody>
      </p:sp>
      <p:sp>
        <p:nvSpPr>
          <p:cNvPr id="23" name="Text 21"/>
          <p:cNvSpPr/>
          <p:nvPr/>
        </p:nvSpPr>
        <p:spPr>
          <a:xfrm>
            <a:off x="5303520" y="3017520"/>
            <a:ext cx="3291840" cy="502920"/>
          </a:xfrm>
          <a:prstGeom prst="rect">
            <a:avLst/>
          </a:prstGeom>
          <a:noFill/>
          <a:ln/>
        </p:spPr>
        <p:txBody>
          <a:bodyPr wrap="square" rtlCol="0" anchor="ctr"/>
          <a:lstStyle/>
          <a:p>
            <a:pPr indent="0" marL="0">
              <a:buNone/>
            </a:pPr>
            <a:r>
              <a:rPr lang="en-US" sz="1600" dirty="0">
                <a:solidFill>
                  <a:srgbClr val="4A5B58"/>
                </a:solidFill>
                <a:latin typeface="Noto Sans JP" pitchFamily="34" charset="0"/>
                <a:ea typeface="Noto Sans JP" pitchFamily="34" charset="-122"/>
                <a:cs typeface="Noto Sans JP" pitchFamily="34" charset="-120"/>
              </a:rPr>
              <a:t>チャットボットによる24時間対応、最適なタイミングでの自動配信</a:t>
            </a:r>
            <a:endParaRPr lang="en-US" sz="1600" dirty="0"/>
          </a:p>
        </p:txBody>
      </p:sp>
      <p:sp>
        <p:nvSpPr>
          <p:cNvPr id="24" name="Shape 22"/>
          <p:cNvSpPr/>
          <p:nvPr/>
        </p:nvSpPr>
        <p:spPr>
          <a:xfrm>
            <a:off x="2743200" y="3703320"/>
            <a:ext cx="457200" cy="502920"/>
          </a:xfrm>
          <a:prstGeom prst="rect">
            <a:avLst>
              <a:gd name="adj" fmla="val 10000"/>
            </a:avLst>
          </a:prstGeom>
          <a:solidFill>
            <a:srgbClr val="FABF00"/>
          </a:solidFill>
          <a:ln/>
        </p:spPr>
      </p:sp>
      <p:sp>
        <p:nvSpPr>
          <p:cNvPr id="25" name="Text 23"/>
          <p:cNvSpPr/>
          <p:nvPr/>
        </p:nvSpPr>
        <p:spPr>
          <a:xfrm>
            <a:off x="2743200" y="3703320"/>
            <a:ext cx="457200" cy="502920"/>
          </a:xfrm>
          <a:prstGeom prst="rect">
            <a:avLst/>
          </a:prstGeom>
          <a:noFill/>
          <a:ln/>
        </p:spPr>
        <p:txBody>
          <a:bodyPr wrap="square" rtlCol="0" anchor="ctr"/>
          <a:lstStyle/>
          <a:p>
            <a:pPr algn="ctr" indent="0" marL="0">
              <a:buNone/>
            </a:pPr>
            <a:r>
              <a:rPr lang="en-US" sz="1800" b="1" dirty="0">
                <a:solidFill>
                  <a:srgbClr val="00A495"/>
                </a:solidFill>
                <a:latin typeface="Noto Sans JP" pitchFamily="34" charset="0"/>
                <a:ea typeface="Noto Sans JP" pitchFamily="34" charset="-122"/>
                <a:cs typeface="Noto Sans JP" pitchFamily="34" charset="-120"/>
              </a:rPr>
              <a:t>4</a:t>
            </a:r>
            <a:endParaRPr lang="en-US" sz="1800" dirty="0"/>
          </a:p>
        </p:txBody>
      </p:sp>
      <p:sp>
        <p:nvSpPr>
          <p:cNvPr id="26" name="Shape 24"/>
          <p:cNvSpPr/>
          <p:nvPr/>
        </p:nvSpPr>
        <p:spPr>
          <a:xfrm>
            <a:off x="3337560" y="3703320"/>
            <a:ext cx="5257800" cy="502920"/>
          </a:xfrm>
          <a:prstGeom prst="rect">
            <a:avLst>
              <a:gd name="adj" fmla="val 9091"/>
            </a:avLst>
          </a:prstGeom>
          <a:solidFill>
            <a:srgbClr val="F5F8F7"/>
          </a:solidFill>
          <a:ln/>
        </p:spPr>
      </p:sp>
      <p:sp>
        <p:nvSpPr>
          <p:cNvPr id="27" name="Text 25"/>
          <p:cNvSpPr/>
          <p:nvPr/>
        </p:nvSpPr>
        <p:spPr>
          <a:xfrm>
            <a:off x="3474720" y="3703320"/>
            <a:ext cx="1828800" cy="502920"/>
          </a:xfrm>
          <a:prstGeom prst="rect">
            <a:avLst/>
          </a:prstGeom>
          <a:noFill/>
          <a:ln/>
        </p:spPr>
        <p:txBody>
          <a:bodyPr wrap="square" rtlCol="0" anchor="ctr"/>
          <a:lstStyle/>
          <a:p>
            <a:pPr indent="0" marL="0">
              <a:buNone/>
            </a:pPr>
            <a:r>
              <a:rPr lang="en-US" sz="1600" b="1" dirty="0">
                <a:solidFill>
                  <a:srgbClr val="2C3E3B"/>
                </a:solidFill>
                <a:latin typeface="Noto Sans JP" pitchFamily="34" charset="0"/>
                <a:ea typeface="Noto Sans JP" pitchFamily="34" charset="-122"/>
                <a:cs typeface="Noto Sans JP" pitchFamily="34" charset="-120"/>
              </a:rPr>
              <a:t>インサイト抽出 / アナリティクス</a:t>
            </a:r>
            <a:endParaRPr lang="en-US" sz="1600" dirty="0"/>
          </a:p>
        </p:txBody>
      </p:sp>
      <p:sp>
        <p:nvSpPr>
          <p:cNvPr id="28" name="Text 26"/>
          <p:cNvSpPr/>
          <p:nvPr/>
        </p:nvSpPr>
        <p:spPr>
          <a:xfrm>
            <a:off x="5303520" y="3703320"/>
            <a:ext cx="3291840" cy="502920"/>
          </a:xfrm>
          <a:prstGeom prst="rect">
            <a:avLst/>
          </a:prstGeom>
          <a:noFill/>
          <a:ln/>
        </p:spPr>
        <p:txBody>
          <a:bodyPr wrap="square" rtlCol="0" anchor="ctr"/>
          <a:lstStyle/>
          <a:p>
            <a:pPr indent="0" marL="0">
              <a:buNone/>
            </a:pPr>
            <a:r>
              <a:rPr lang="en-US" sz="1600" dirty="0">
                <a:solidFill>
                  <a:srgbClr val="4A5B58"/>
                </a:solidFill>
                <a:latin typeface="Noto Sans JP" pitchFamily="34" charset="0"/>
                <a:ea typeface="Noto Sans JP" pitchFamily="34" charset="-122"/>
                <a:cs typeface="Noto Sans JP" pitchFamily="34" charset="-120"/>
              </a:rPr>
              <a:t>VoC（顧客の声）の自然言語処理、感情分析、キャンペーン効果予測</a:t>
            </a:r>
            <a:endParaRPr lang="en-US" sz="1600" dirty="0"/>
          </a:p>
        </p:txBody>
      </p:sp>
      <p:sp>
        <p:nvSpPr>
          <p:cNvPr id="29" name="Text 27"/>
          <p:cNvSpPr/>
          <p:nvPr/>
        </p:nvSpPr>
        <p:spPr>
          <a:xfrm>
            <a:off x="548640" y="4663440"/>
            <a:ext cx="8046720" cy="274320"/>
          </a:xfrm>
          <a:prstGeom prst="rect">
            <a:avLst/>
          </a:prstGeom>
          <a:noFill/>
          <a:ln/>
        </p:spPr>
        <p:txBody>
          <a:bodyPr wrap="square" rtlCol="0" anchor="b"/>
          <a:lstStyle/>
          <a:p>
            <a:pPr indent="0" marL="0">
              <a:buNone/>
            </a:pPr>
            <a:r>
              <a:rPr lang="en-US" sz="1200" dirty="0">
                <a:solidFill>
                  <a:srgbClr val="7A8C89"/>
                </a:solidFill>
                <a:latin typeface="Noto Sans JP" pitchFamily="34" charset="0"/>
                <a:ea typeface="Noto Sans JP" pitchFamily="34" charset="-122"/>
                <a:cs typeface="Noto Sans JP" pitchFamily="34" charset="-120"/>
              </a:rPr>
              <a:t>出所: 社内検討資料および市場調査データより</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rtlCol="0" anchor="ctr"/>
          <a:lstStyle/>
          <a:p>
            <a:pPr indent="0" marL="0">
              <a:buNone/>
            </a:pPr>
            <a:r>
              <a:rPr lang="en-US" sz="2400" b="1" dirty="0">
                <a:solidFill>
                  <a:srgbClr val="2C3E3B"/>
                </a:solidFill>
                <a:latin typeface="Noto Sans JP" pitchFamily="34" charset="0"/>
                <a:ea typeface="Noto Sans JP" pitchFamily="34" charset="-122"/>
                <a:cs typeface="Noto Sans JP" pitchFamily="34" charset="-120"/>
              </a:rPr>
              <a:t>AI導入によるマーケティングプロセスの進化</a:t>
            </a:r>
            <a:endParaRPr lang="en-US" sz="2400" dirty="0"/>
          </a:p>
        </p:txBody>
      </p:sp>
      <p:sp>
        <p:nvSpPr>
          <p:cNvPr id="3" name="Shape 1"/>
          <p:cNvSpPr/>
          <p:nvPr/>
        </p:nvSpPr>
        <p:spPr>
          <a:xfrm>
            <a:off x="548640" y="731520"/>
            <a:ext cx="1097280" cy="36576"/>
          </a:xfrm>
          <a:prstGeom prst="rect">
            <a:avLst/>
          </a:prstGeom>
          <a:solidFill>
            <a:srgbClr val="FABF00"/>
          </a:solidFill>
          <a:ln/>
        </p:spPr>
      </p:sp>
      <p:sp>
        <p:nvSpPr>
          <p:cNvPr id="4" name="Shape 2"/>
          <p:cNvSpPr/>
          <p:nvPr/>
        </p:nvSpPr>
        <p:spPr>
          <a:xfrm>
            <a:off x="548640" y="822960"/>
            <a:ext cx="8046720" cy="457200"/>
          </a:xfrm>
          <a:prstGeom prst="rect">
            <a:avLst>
              <a:gd name="adj" fmla="val 10000"/>
            </a:avLst>
          </a:prstGeom>
          <a:solidFill>
            <a:srgbClr val="00A495"/>
          </a:solidFill>
          <a:ln/>
        </p:spPr>
      </p:sp>
      <p:sp>
        <p:nvSpPr>
          <p:cNvPr id="5" name="Shape 3"/>
          <p:cNvSpPr/>
          <p:nvPr/>
        </p:nvSpPr>
        <p:spPr>
          <a:xfrm>
            <a:off x="548640" y="822960"/>
            <a:ext cx="54864" cy="457200"/>
          </a:xfrm>
          <a:prstGeom prst="rect">
            <a:avLst/>
          </a:prstGeom>
          <a:solidFill>
            <a:srgbClr val="FABF00"/>
          </a:solidFill>
          <a:ln/>
        </p:spPr>
      </p:sp>
      <p:sp>
        <p:nvSpPr>
          <p:cNvPr id="6" name="Text 4"/>
          <p:cNvSpPr/>
          <p:nvPr/>
        </p:nvSpPr>
        <p:spPr>
          <a:xfrm>
            <a:off x="822960" y="822960"/>
            <a:ext cx="7589520" cy="457200"/>
          </a:xfrm>
          <a:prstGeom prst="rect">
            <a:avLst/>
          </a:prstGeom>
          <a:noFill/>
          <a:ln/>
        </p:spPr>
        <p:txBody>
          <a:bodyPr wrap="square" rtlCol="0" anchor="ctr"/>
          <a:lstStyle/>
          <a:p>
            <a:pPr indent="0" marL="0">
              <a:buNone/>
            </a:pPr>
            <a:r>
              <a:rPr lang="en-US" sz="1600" b="1" dirty="0">
                <a:solidFill>
                  <a:srgbClr val="FFFFFF"/>
                </a:solidFill>
                <a:latin typeface="Noto Sans JP" pitchFamily="34" charset="0"/>
                <a:ea typeface="Noto Sans JP" pitchFamily="34" charset="-122"/>
                <a:cs typeface="Noto Sans JP" pitchFamily="34" charset="-120"/>
              </a:rPr>
              <a:t>データ収集から施策実行までのサイクルを高速かつ自動で回す体制へ</a:t>
            </a:r>
            <a:endParaRPr lang="en-US" sz="1600" dirty="0"/>
          </a:p>
        </p:txBody>
      </p:sp>
      <p:sp>
        <p:nvSpPr>
          <p:cNvPr id="7" name="Shape 5"/>
          <p:cNvSpPr/>
          <p:nvPr/>
        </p:nvSpPr>
        <p:spPr>
          <a:xfrm>
            <a:off x="548640" y="1554480"/>
            <a:ext cx="1600200" cy="640080"/>
          </a:xfrm>
          <a:prstGeom prst="rect">
            <a:avLst>
              <a:gd name="adj" fmla="val 11429"/>
            </a:avLst>
          </a:prstGeom>
          <a:solidFill>
            <a:srgbClr val="00A495"/>
          </a:solidFill>
          <a:ln/>
        </p:spPr>
      </p:sp>
      <p:sp>
        <p:nvSpPr>
          <p:cNvPr id="8" name="Text 6"/>
          <p:cNvSpPr/>
          <p:nvPr/>
        </p:nvSpPr>
        <p:spPr>
          <a:xfrm>
            <a:off x="548640" y="1554480"/>
            <a:ext cx="1600200" cy="640080"/>
          </a:xfrm>
          <a:prstGeom prst="rect">
            <a:avLst/>
          </a:prstGeom>
          <a:noFill/>
          <a:ln/>
        </p:spPr>
        <p:txBody>
          <a:bodyPr wrap="square" rtlCol="0" anchor="ctr"/>
          <a:lstStyle/>
          <a:p>
            <a:pPr algn="ctr" indent="0" marL="0">
              <a:buNone/>
            </a:pPr>
            <a:r>
              <a:rPr lang="en-US" sz="1600" b="1" dirty="0">
                <a:solidFill>
                  <a:srgbClr val="FFFFFF"/>
                </a:solidFill>
                <a:latin typeface="Noto Sans JP" pitchFamily="34" charset="0"/>
                <a:ea typeface="Noto Sans JP" pitchFamily="34" charset="-122"/>
                <a:cs typeface="Noto Sans JP" pitchFamily="34" charset="-120"/>
              </a:rPr>
              <a:t>データ統合・蓄積</a:t>
            </a:r>
            <a:endParaRPr lang="en-US" sz="1600" dirty="0"/>
          </a:p>
        </p:txBody>
      </p:sp>
      <p:sp>
        <p:nvSpPr>
          <p:cNvPr id="9" name="Text 7"/>
          <p:cNvSpPr/>
          <p:nvPr/>
        </p:nvSpPr>
        <p:spPr>
          <a:xfrm>
            <a:off x="2286000" y="1554480"/>
            <a:ext cx="274320" cy="640080"/>
          </a:xfrm>
          <a:prstGeom prst="rect">
            <a:avLst/>
          </a:prstGeom>
          <a:noFill/>
          <a:ln/>
        </p:spPr>
        <p:txBody>
          <a:bodyPr wrap="square" rtlCol="0" anchor="ctr"/>
          <a:lstStyle/>
          <a:p>
            <a:pPr algn="ctr" indent="0" marL="0">
              <a:buNone/>
            </a:pPr>
            <a:r>
              <a:rPr lang="en-US" sz="1600" dirty="0">
                <a:solidFill>
                  <a:srgbClr val="FABF00"/>
                </a:solidFill>
                <a:latin typeface="Noto Sans JP" pitchFamily="34" charset="0"/>
                <a:ea typeface="Noto Sans JP" pitchFamily="34" charset="-122"/>
                <a:cs typeface="Noto Sans JP" pitchFamily="34" charset="-120"/>
              </a:rPr>
              <a:t>▶</a:t>
            </a:r>
            <a:endParaRPr lang="en-US" sz="1600" dirty="0"/>
          </a:p>
        </p:txBody>
      </p:sp>
      <p:sp>
        <p:nvSpPr>
          <p:cNvPr id="10" name="Shape 8"/>
          <p:cNvSpPr/>
          <p:nvPr/>
        </p:nvSpPr>
        <p:spPr>
          <a:xfrm>
            <a:off x="548640" y="2377440"/>
            <a:ext cx="1600200" cy="2011680"/>
          </a:xfrm>
          <a:prstGeom prst="rect">
            <a:avLst>
              <a:gd name="adj" fmla="val 4571"/>
            </a:avLst>
          </a:prstGeom>
          <a:solidFill>
            <a:srgbClr val="F5F8F7"/>
          </a:solidFill>
          <a:ln/>
        </p:spPr>
      </p:sp>
      <p:sp>
        <p:nvSpPr>
          <p:cNvPr id="11" name="Text 9"/>
          <p:cNvSpPr/>
          <p:nvPr/>
        </p:nvSpPr>
        <p:spPr>
          <a:xfrm>
            <a:off x="640080" y="2468880"/>
            <a:ext cx="1417320" cy="1828800"/>
          </a:xfrm>
          <a:prstGeom prst="rect">
            <a:avLst/>
          </a:prstGeom>
          <a:noFill/>
          <a:ln/>
        </p:spPr>
        <p:txBody>
          <a:bodyPr wrap="square" rtlCol="0" anchor="t"/>
          <a:lstStyle/>
          <a:p>
            <a:pPr indent="0" marL="0">
              <a:lnSpc>
                <a:spcPct val="130000"/>
              </a:lnSpc>
              <a:buNone/>
            </a:pPr>
            <a:r>
              <a:rPr lang="en-US" sz="1600" dirty="0">
                <a:solidFill>
                  <a:srgbClr val="4A5B58"/>
                </a:solidFill>
                <a:latin typeface="Noto Sans JP" pitchFamily="34" charset="0"/>
                <a:ea typeface="Noto Sans JP" pitchFamily="34" charset="-122"/>
                <a:cs typeface="Noto Sans JP" pitchFamily="34" charset="-120"/>
              </a:rPr>
              <a:t>CRM、Web行動、購買履歴など分散するデータを統合</a:t>
            </a:r>
            <a:endParaRPr lang="en-US" sz="1600" dirty="0"/>
          </a:p>
        </p:txBody>
      </p:sp>
      <p:sp>
        <p:nvSpPr>
          <p:cNvPr id="12" name="Shape 10"/>
          <p:cNvSpPr/>
          <p:nvPr/>
        </p:nvSpPr>
        <p:spPr>
          <a:xfrm>
            <a:off x="2697480" y="1554480"/>
            <a:ext cx="1600200" cy="640080"/>
          </a:xfrm>
          <a:prstGeom prst="rect">
            <a:avLst>
              <a:gd name="adj" fmla="val 11429"/>
            </a:avLst>
          </a:prstGeom>
          <a:solidFill>
            <a:srgbClr val="00A495"/>
          </a:solidFill>
          <a:ln/>
        </p:spPr>
      </p:sp>
      <p:sp>
        <p:nvSpPr>
          <p:cNvPr id="13" name="Text 11"/>
          <p:cNvSpPr/>
          <p:nvPr/>
        </p:nvSpPr>
        <p:spPr>
          <a:xfrm>
            <a:off x="2697480" y="1554480"/>
            <a:ext cx="1600200" cy="640080"/>
          </a:xfrm>
          <a:prstGeom prst="rect">
            <a:avLst/>
          </a:prstGeom>
          <a:noFill/>
          <a:ln/>
        </p:spPr>
        <p:txBody>
          <a:bodyPr wrap="square" rtlCol="0" anchor="ctr"/>
          <a:lstStyle/>
          <a:p>
            <a:pPr algn="ctr" indent="0" marL="0">
              <a:buNone/>
            </a:pPr>
            <a:r>
              <a:rPr lang="en-US" sz="1600" b="1" dirty="0">
                <a:solidFill>
                  <a:srgbClr val="FFFFFF"/>
                </a:solidFill>
                <a:latin typeface="Noto Sans JP" pitchFamily="34" charset="0"/>
                <a:ea typeface="Noto Sans JP" pitchFamily="34" charset="-122"/>
                <a:cs typeface="Noto Sans JP" pitchFamily="34" charset="-120"/>
              </a:rPr>
              <a:t>AIによる分析・予測</a:t>
            </a:r>
            <a:endParaRPr lang="en-US" sz="1600" dirty="0"/>
          </a:p>
        </p:txBody>
      </p:sp>
      <p:sp>
        <p:nvSpPr>
          <p:cNvPr id="14" name="Text 12"/>
          <p:cNvSpPr/>
          <p:nvPr/>
        </p:nvSpPr>
        <p:spPr>
          <a:xfrm>
            <a:off x="4434840" y="1554480"/>
            <a:ext cx="274320" cy="640080"/>
          </a:xfrm>
          <a:prstGeom prst="rect">
            <a:avLst/>
          </a:prstGeom>
          <a:noFill/>
          <a:ln/>
        </p:spPr>
        <p:txBody>
          <a:bodyPr wrap="square" rtlCol="0" anchor="ctr"/>
          <a:lstStyle/>
          <a:p>
            <a:pPr algn="ctr" indent="0" marL="0">
              <a:buNone/>
            </a:pPr>
            <a:r>
              <a:rPr lang="en-US" sz="1600" dirty="0">
                <a:solidFill>
                  <a:srgbClr val="FABF00"/>
                </a:solidFill>
                <a:latin typeface="Noto Sans JP" pitchFamily="34" charset="0"/>
                <a:ea typeface="Noto Sans JP" pitchFamily="34" charset="-122"/>
                <a:cs typeface="Noto Sans JP" pitchFamily="34" charset="-120"/>
              </a:rPr>
              <a:t>▶</a:t>
            </a:r>
            <a:endParaRPr lang="en-US" sz="1600" dirty="0"/>
          </a:p>
        </p:txBody>
      </p:sp>
      <p:sp>
        <p:nvSpPr>
          <p:cNvPr id="15" name="Shape 13"/>
          <p:cNvSpPr/>
          <p:nvPr/>
        </p:nvSpPr>
        <p:spPr>
          <a:xfrm>
            <a:off x="2697480" y="2377440"/>
            <a:ext cx="1600200" cy="2011680"/>
          </a:xfrm>
          <a:prstGeom prst="rect">
            <a:avLst>
              <a:gd name="adj" fmla="val 4571"/>
            </a:avLst>
          </a:prstGeom>
          <a:solidFill>
            <a:srgbClr val="F5F8F7"/>
          </a:solidFill>
          <a:ln/>
        </p:spPr>
      </p:sp>
      <p:sp>
        <p:nvSpPr>
          <p:cNvPr id="16" name="Text 14"/>
          <p:cNvSpPr/>
          <p:nvPr/>
        </p:nvSpPr>
        <p:spPr>
          <a:xfrm>
            <a:off x="2788920" y="2468880"/>
            <a:ext cx="1417320" cy="1828800"/>
          </a:xfrm>
          <a:prstGeom prst="rect">
            <a:avLst/>
          </a:prstGeom>
          <a:noFill/>
          <a:ln/>
        </p:spPr>
        <p:txBody>
          <a:bodyPr wrap="square" rtlCol="0" anchor="t"/>
          <a:lstStyle/>
          <a:p>
            <a:pPr indent="0" marL="0">
              <a:lnSpc>
                <a:spcPct val="130000"/>
              </a:lnSpc>
              <a:buNone/>
            </a:pPr>
            <a:r>
              <a:rPr lang="en-US" sz="1600" dirty="0">
                <a:solidFill>
                  <a:srgbClr val="4A5B58"/>
                </a:solidFill>
                <a:latin typeface="Noto Sans JP" pitchFamily="34" charset="0"/>
                <a:ea typeface="Noto Sans JP" pitchFamily="34" charset="-122"/>
                <a:cs typeface="Noto Sans JP" pitchFamily="34" charset="-120"/>
              </a:rPr>
              <a:t>顧客の趣味嗜好や次の行動をAIが自動予測・セグメント化</a:t>
            </a:r>
            <a:endParaRPr lang="en-US" sz="1600" dirty="0"/>
          </a:p>
        </p:txBody>
      </p:sp>
      <p:sp>
        <p:nvSpPr>
          <p:cNvPr id="17" name="Shape 15"/>
          <p:cNvSpPr/>
          <p:nvPr/>
        </p:nvSpPr>
        <p:spPr>
          <a:xfrm>
            <a:off x="4846320" y="1554480"/>
            <a:ext cx="1600200" cy="640080"/>
          </a:xfrm>
          <a:prstGeom prst="rect">
            <a:avLst>
              <a:gd name="adj" fmla="val 11429"/>
            </a:avLst>
          </a:prstGeom>
          <a:solidFill>
            <a:srgbClr val="00A495"/>
          </a:solidFill>
          <a:ln/>
        </p:spPr>
      </p:sp>
      <p:sp>
        <p:nvSpPr>
          <p:cNvPr id="18" name="Text 16"/>
          <p:cNvSpPr/>
          <p:nvPr/>
        </p:nvSpPr>
        <p:spPr>
          <a:xfrm>
            <a:off x="4846320" y="1554480"/>
            <a:ext cx="1600200" cy="640080"/>
          </a:xfrm>
          <a:prstGeom prst="rect">
            <a:avLst/>
          </a:prstGeom>
          <a:noFill/>
          <a:ln/>
        </p:spPr>
        <p:txBody>
          <a:bodyPr wrap="square" rtlCol="0" anchor="ctr"/>
          <a:lstStyle/>
          <a:p>
            <a:pPr algn="ctr" indent="0" marL="0">
              <a:buNone/>
            </a:pPr>
            <a:r>
              <a:rPr lang="en-US" sz="1600" b="1" dirty="0">
                <a:solidFill>
                  <a:srgbClr val="FFFFFF"/>
                </a:solidFill>
                <a:latin typeface="Noto Sans JP" pitchFamily="34" charset="0"/>
                <a:ea typeface="Noto Sans JP" pitchFamily="34" charset="-122"/>
                <a:cs typeface="Noto Sans JP" pitchFamily="34" charset="-120"/>
              </a:rPr>
              <a:t>自動パーソナライズ</a:t>
            </a:r>
            <a:endParaRPr lang="en-US" sz="1600" dirty="0"/>
          </a:p>
        </p:txBody>
      </p:sp>
      <p:sp>
        <p:nvSpPr>
          <p:cNvPr id="19" name="Text 17"/>
          <p:cNvSpPr/>
          <p:nvPr/>
        </p:nvSpPr>
        <p:spPr>
          <a:xfrm>
            <a:off x="6583680" y="1554480"/>
            <a:ext cx="274320" cy="640080"/>
          </a:xfrm>
          <a:prstGeom prst="rect">
            <a:avLst/>
          </a:prstGeom>
          <a:noFill/>
          <a:ln/>
        </p:spPr>
        <p:txBody>
          <a:bodyPr wrap="square" rtlCol="0" anchor="ctr"/>
          <a:lstStyle/>
          <a:p>
            <a:pPr algn="ctr" indent="0" marL="0">
              <a:buNone/>
            </a:pPr>
            <a:r>
              <a:rPr lang="en-US" sz="1600" dirty="0">
                <a:solidFill>
                  <a:srgbClr val="FABF00"/>
                </a:solidFill>
                <a:latin typeface="Noto Sans JP" pitchFamily="34" charset="0"/>
                <a:ea typeface="Noto Sans JP" pitchFamily="34" charset="-122"/>
                <a:cs typeface="Noto Sans JP" pitchFamily="34" charset="-120"/>
              </a:rPr>
              <a:t>▶</a:t>
            </a:r>
            <a:endParaRPr lang="en-US" sz="1600" dirty="0"/>
          </a:p>
        </p:txBody>
      </p:sp>
      <p:sp>
        <p:nvSpPr>
          <p:cNvPr id="20" name="Shape 18"/>
          <p:cNvSpPr/>
          <p:nvPr/>
        </p:nvSpPr>
        <p:spPr>
          <a:xfrm>
            <a:off x="4846320" y="2377440"/>
            <a:ext cx="1600200" cy="2011680"/>
          </a:xfrm>
          <a:prstGeom prst="rect">
            <a:avLst>
              <a:gd name="adj" fmla="val 4571"/>
            </a:avLst>
          </a:prstGeom>
          <a:solidFill>
            <a:srgbClr val="F5F8F7"/>
          </a:solidFill>
          <a:ln/>
        </p:spPr>
      </p:sp>
      <p:sp>
        <p:nvSpPr>
          <p:cNvPr id="21" name="Text 19"/>
          <p:cNvSpPr/>
          <p:nvPr/>
        </p:nvSpPr>
        <p:spPr>
          <a:xfrm>
            <a:off x="4937760" y="2468880"/>
            <a:ext cx="1417320" cy="1828800"/>
          </a:xfrm>
          <a:prstGeom prst="rect">
            <a:avLst/>
          </a:prstGeom>
          <a:noFill/>
          <a:ln/>
        </p:spPr>
        <p:txBody>
          <a:bodyPr wrap="square" rtlCol="0" anchor="t"/>
          <a:lstStyle/>
          <a:p>
            <a:pPr indent="0" marL="0">
              <a:lnSpc>
                <a:spcPct val="130000"/>
              </a:lnSpc>
              <a:buNone/>
            </a:pPr>
            <a:r>
              <a:rPr lang="en-US" sz="1600" dirty="0">
                <a:solidFill>
                  <a:srgbClr val="4A5B58"/>
                </a:solidFill>
                <a:latin typeface="Noto Sans JP" pitchFamily="34" charset="0"/>
                <a:ea typeface="Noto Sans JP" pitchFamily="34" charset="-122"/>
                <a:cs typeface="Noto Sans JP" pitchFamily="34" charset="-120"/>
              </a:rPr>
              <a:t>予測結果にもとづき、最適なチャネルとコンテンツを自動配信</a:t>
            </a:r>
            <a:endParaRPr lang="en-US" sz="1600" dirty="0"/>
          </a:p>
        </p:txBody>
      </p:sp>
      <p:sp>
        <p:nvSpPr>
          <p:cNvPr id="22" name="Shape 20"/>
          <p:cNvSpPr/>
          <p:nvPr/>
        </p:nvSpPr>
        <p:spPr>
          <a:xfrm>
            <a:off x="6995160" y="1554480"/>
            <a:ext cx="1600200" cy="640080"/>
          </a:xfrm>
          <a:prstGeom prst="rect">
            <a:avLst>
              <a:gd name="adj" fmla="val 11429"/>
            </a:avLst>
          </a:prstGeom>
          <a:solidFill>
            <a:srgbClr val="00A495"/>
          </a:solidFill>
          <a:ln/>
        </p:spPr>
      </p:sp>
      <p:sp>
        <p:nvSpPr>
          <p:cNvPr id="23" name="Text 21"/>
          <p:cNvSpPr/>
          <p:nvPr/>
        </p:nvSpPr>
        <p:spPr>
          <a:xfrm>
            <a:off x="6995160" y="1554480"/>
            <a:ext cx="1600200" cy="640080"/>
          </a:xfrm>
          <a:prstGeom prst="rect">
            <a:avLst/>
          </a:prstGeom>
          <a:noFill/>
          <a:ln/>
        </p:spPr>
        <p:txBody>
          <a:bodyPr wrap="square" rtlCol="0" anchor="ctr"/>
          <a:lstStyle/>
          <a:p>
            <a:pPr algn="ctr" indent="0" marL="0">
              <a:buNone/>
            </a:pPr>
            <a:r>
              <a:rPr lang="en-US" sz="1600" b="1" dirty="0">
                <a:solidFill>
                  <a:srgbClr val="FFFFFF"/>
                </a:solidFill>
                <a:latin typeface="Noto Sans JP" pitchFamily="34" charset="0"/>
                <a:ea typeface="Noto Sans JP" pitchFamily="34" charset="-122"/>
                <a:cs typeface="Noto Sans JP" pitchFamily="34" charset="-120"/>
              </a:rPr>
              <a:t>効果検証・再学習</a:t>
            </a:r>
            <a:endParaRPr lang="en-US" sz="1600" dirty="0"/>
          </a:p>
        </p:txBody>
      </p:sp>
      <p:sp>
        <p:nvSpPr>
          <p:cNvPr id="24" name="Shape 22"/>
          <p:cNvSpPr/>
          <p:nvPr/>
        </p:nvSpPr>
        <p:spPr>
          <a:xfrm>
            <a:off x="6995160" y="2377440"/>
            <a:ext cx="1600200" cy="2011680"/>
          </a:xfrm>
          <a:prstGeom prst="rect">
            <a:avLst>
              <a:gd name="adj" fmla="val 4571"/>
            </a:avLst>
          </a:prstGeom>
          <a:solidFill>
            <a:srgbClr val="F5F8F7"/>
          </a:solidFill>
          <a:ln/>
        </p:spPr>
      </p:sp>
      <p:sp>
        <p:nvSpPr>
          <p:cNvPr id="25" name="Text 23"/>
          <p:cNvSpPr/>
          <p:nvPr/>
        </p:nvSpPr>
        <p:spPr>
          <a:xfrm>
            <a:off x="7086600" y="2468880"/>
            <a:ext cx="1417320" cy="1828800"/>
          </a:xfrm>
          <a:prstGeom prst="rect">
            <a:avLst/>
          </a:prstGeom>
          <a:noFill/>
          <a:ln/>
        </p:spPr>
        <p:txBody>
          <a:bodyPr wrap="square" rtlCol="0" anchor="t"/>
          <a:lstStyle/>
          <a:p>
            <a:pPr indent="0" marL="0">
              <a:lnSpc>
                <a:spcPct val="130000"/>
              </a:lnSpc>
              <a:buNone/>
            </a:pPr>
            <a:r>
              <a:rPr lang="en-US" sz="1600" dirty="0">
                <a:solidFill>
                  <a:srgbClr val="4A5B58"/>
                </a:solidFill>
                <a:latin typeface="Noto Sans JP" pitchFamily="34" charset="0"/>
                <a:ea typeface="Noto Sans JP" pitchFamily="34" charset="-122"/>
                <a:cs typeface="Noto Sans JP" pitchFamily="34" charset="-120"/>
              </a:rPr>
              <a:t>配信結果をリアルタイムに評価し、AIモデルが自律的に学習</a:t>
            </a:r>
            <a:endParaRPr lang="en-US" sz="1600" dirty="0"/>
          </a:p>
        </p:txBody>
      </p:sp>
      <p:sp>
        <p:nvSpPr>
          <p:cNvPr id="26" name="Text 24"/>
          <p:cNvSpPr/>
          <p:nvPr/>
        </p:nvSpPr>
        <p:spPr>
          <a:xfrm>
            <a:off x="548640" y="4663440"/>
            <a:ext cx="8046720" cy="274320"/>
          </a:xfrm>
          <a:prstGeom prst="rect">
            <a:avLst/>
          </a:prstGeom>
          <a:noFill/>
          <a:ln/>
        </p:spPr>
        <p:txBody>
          <a:bodyPr wrap="square" rtlCol="0" anchor="b"/>
          <a:lstStyle/>
          <a:p>
            <a:pPr indent="0" marL="0">
              <a:buNone/>
            </a:pPr>
            <a:r>
              <a:rPr lang="en-US" sz="1200" dirty="0">
                <a:solidFill>
                  <a:srgbClr val="7A8C89"/>
                </a:solidFill>
                <a:latin typeface="Noto Sans JP" pitchFamily="34" charset="0"/>
                <a:ea typeface="Noto Sans JP" pitchFamily="34" charset="-122"/>
                <a:cs typeface="Noto Sans JP" pitchFamily="34" charset="-120"/>
              </a:rPr>
              <a:t>出所: 社内検討資料および市場調査データより</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0A495"/>
          </a:solidFill>
          <a:ln/>
        </p:spPr>
      </p:sp>
      <p:sp>
        <p:nvSpPr>
          <p:cNvPr id="3" name="Text 1"/>
          <p:cNvSpPr/>
          <p:nvPr/>
        </p:nvSpPr>
        <p:spPr>
          <a:xfrm>
            <a:off x="548640" y="731520"/>
            <a:ext cx="3657600" cy="1828800"/>
          </a:xfrm>
          <a:prstGeom prst="rect">
            <a:avLst/>
          </a:prstGeom>
          <a:noFill/>
          <a:ln/>
        </p:spPr>
        <p:txBody>
          <a:bodyPr wrap="square" rtlCol="0" anchor="ctr"/>
          <a:lstStyle/>
          <a:p>
            <a:pPr indent="0" marL="0">
              <a:buNone/>
            </a:pPr>
            <a:r>
              <a:rPr lang="en-US" sz="8000" b="1" dirty="0">
                <a:solidFill>
                  <a:srgbClr val="FABF00"/>
                </a:solidFill>
                <a:latin typeface="Noto Sans JP" pitchFamily="34" charset="0"/>
                <a:ea typeface="Noto Sans JP" pitchFamily="34" charset="-122"/>
                <a:cs typeface="Noto Sans JP" pitchFamily="34" charset="-120"/>
              </a:rPr>
              <a:t>03</a:t>
            </a:r>
            <a:endParaRPr lang="en-US" sz="8000" dirty="0"/>
          </a:p>
        </p:txBody>
      </p:sp>
      <p:sp>
        <p:nvSpPr>
          <p:cNvPr id="4" name="Shape 2"/>
          <p:cNvSpPr/>
          <p:nvPr/>
        </p:nvSpPr>
        <p:spPr>
          <a:xfrm>
            <a:off x="548640" y="2651760"/>
            <a:ext cx="1828800" cy="54864"/>
          </a:xfrm>
          <a:prstGeom prst="rect">
            <a:avLst/>
          </a:prstGeom>
          <a:solidFill>
            <a:srgbClr val="FABF00"/>
          </a:solidFill>
          <a:ln/>
        </p:spPr>
      </p:sp>
      <p:sp>
        <p:nvSpPr>
          <p:cNvPr id="5" name="Text 3"/>
          <p:cNvSpPr/>
          <p:nvPr/>
        </p:nvSpPr>
        <p:spPr>
          <a:xfrm>
            <a:off x="548640" y="2926080"/>
            <a:ext cx="8046720" cy="914400"/>
          </a:xfrm>
          <a:prstGeom prst="rect">
            <a:avLst/>
          </a:prstGeom>
          <a:noFill/>
          <a:ln/>
        </p:spPr>
        <p:txBody>
          <a:bodyPr wrap="square" rtlCol="0" anchor="t"/>
          <a:lstStyle/>
          <a:p>
            <a:pPr indent="0" marL="0">
              <a:buNone/>
            </a:pPr>
            <a:r>
              <a:rPr lang="en-US" sz="3200" b="1" dirty="0">
                <a:solidFill>
                  <a:srgbClr val="FFFFFF"/>
                </a:solidFill>
                <a:latin typeface="Noto Sans JP" pitchFamily="34" charset="0"/>
                <a:ea typeface="Noto Sans JP" pitchFamily="34" charset="-122"/>
                <a:cs typeface="Noto Sans JP" pitchFamily="34" charset="-120"/>
              </a:rPr>
              <a:t>導入に向けたステップと期待効果</a:t>
            </a:r>
            <a:endParaRPr lang="en-US" sz="3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rtlCol="0" anchor="ctr"/>
          <a:lstStyle/>
          <a:p>
            <a:pPr indent="0" marL="0">
              <a:buNone/>
            </a:pPr>
            <a:r>
              <a:rPr lang="en-US" sz="2400" b="1" dirty="0">
                <a:solidFill>
                  <a:srgbClr val="2C3E3B"/>
                </a:solidFill>
                <a:latin typeface="Noto Sans JP" pitchFamily="34" charset="0"/>
                <a:ea typeface="Noto Sans JP" pitchFamily="34" charset="-122"/>
                <a:cs typeface="Noto Sans JP" pitchFamily="34" charset="-120"/>
              </a:rPr>
              <a:t>AIマーケティング実現に向けたステップ</a:t>
            </a:r>
            <a:endParaRPr lang="en-US" sz="2400" dirty="0"/>
          </a:p>
        </p:txBody>
      </p:sp>
      <p:sp>
        <p:nvSpPr>
          <p:cNvPr id="3" name="Shape 1"/>
          <p:cNvSpPr/>
          <p:nvPr/>
        </p:nvSpPr>
        <p:spPr>
          <a:xfrm>
            <a:off x="548640" y="731520"/>
            <a:ext cx="1097280" cy="36576"/>
          </a:xfrm>
          <a:prstGeom prst="rect">
            <a:avLst/>
          </a:prstGeom>
          <a:solidFill>
            <a:srgbClr val="FABF00"/>
          </a:solidFill>
          <a:ln/>
        </p:spPr>
      </p:sp>
      <p:sp>
        <p:nvSpPr>
          <p:cNvPr id="4" name="Shape 2"/>
          <p:cNvSpPr/>
          <p:nvPr/>
        </p:nvSpPr>
        <p:spPr>
          <a:xfrm>
            <a:off x="548640" y="822960"/>
            <a:ext cx="8046720" cy="457200"/>
          </a:xfrm>
          <a:prstGeom prst="rect">
            <a:avLst>
              <a:gd name="adj" fmla="val 10000"/>
            </a:avLst>
          </a:prstGeom>
          <a:solidFill>
            <a:srgbClr val="00A495"/>
          </a:solidFill>
          <a:ln/>
        </p:spPr>
      </p:sp>
      <p:sp>
        <p:nvSpPr>
          <p:cNvPr id="5" name="Shape 3"/>
          <p:cNvSpPr/>
          <p:nvPr/>
        </p:nvSpPr>
        <p:spPr>
          <a:xfrm>
            <a:off x="548640" y="822960"/>
            <a:ext cx="54864" cy="457200"/>
          </a:xfrm>
          <a:prstGeom prst="rect">
            <a:avLst/>
          </a:prstGeom>
          <a:solidFill>
            <a:srgbClr val="FABF00"/>
          </a:solidFill>
          <a:ln/>
        </p:spPr>
      </p:sp>
      <p:sp>
        <p:nvSpPr>
          <p:cNvPr id="6" name="Text 4"/>
          <p:cNvSpPr/>
          <p:nvPr/>
        </p:nvSpPr>
        <p:spPr>
          <a:xfrm>
            <a:off x="822960" y="822960"/>
            <a:ext cx="7589520" cy="457200"/>
          </a:xfrm>
          <a:prstGeom prst="rect">
            <a:avLst/>
          </a:prstGeom>
          <a:noFill/>
          <a:ln/>
        </p:spPr>
        <p:txBody>
          <a:bodyPr wrap="square" rtlCol="0" anchor="ctr"/>
          <a:lstStyle/>
          <a:p>
            <a:pPr indent="0" marL="0">
              <a:buNone/>
            </a:pPr>
            <a:r>
              <a:rPr lang="en-US" sz="1600" b="1" dirty="0">
                <a:solidFill>
                  <a:srgbClr val="FFFFFF"/>
                </a:solidFill>
                <a:latin typeface="Noto Sans JP" pitchFamily="34" charset="0"/>
                <a:ea typeface="Noto Sans JP" pitchFamily="34" charset="-122"/>
                <a:cs typeface="Noto Sans JP" pitchFamily="34" charset="-120"/>
              </a:rPr>
              <a:t>スモールスタートから始め、徐々に適用範囲とデータ利活用を拡大する</a:t>
            </a:r>
            <a:endParaRPr lang="en-US" sz="1600" dirty="0"/>
          </a:p>
        </p:txBody>
      </p:sp>
      <p:sp>
        <p:nvSpPr>
          <p:cNvPr id="7" name="Shape 5"/>
          <p:cNvSpPr/>
          <p:nvPr/>
        </p:nvSpPr>
        <p:spPr>
          <a:xfrm>
            <a:off x="548640" y="3352800"/>
            <a:ext cx="2560320" cy="853440"/>
          </a:xfrm>
          <a:prstGeom prst="rect">
            <a:avLst>
              <a:gd name="adj" fmla="val 8571"/>
            </a:avLst>
          </a:prstGeom>
          <a:solidFill>
            <a:srgbClr val="00A495"/>
          </a:solidFill>
          <a:ln/>
        </p:spPr>
      </p:sp>
      <p:sp>
        <p:nvSpPr>
          <p:cNvPr id="8" name="Text 6"/>
          <p:cNvSpPr/>
          <p:nvPr/>
        </p:nvSpPr>
        <p:spPr>
          <a:xfrm>
            <a:off x="548640" y="3489960"/>
            <a:ext cx="2560320" cy="365760"/>
          </a:xfrm>
          <a:prstGeom prst="rect">
            <a:avLst/>
          </a:prstGeom>
          <a:noFill/>
          <a:ln/>
        </p:spPr>
        <p:txBody>
          <a:bodyPr wrap="square" rtlCol="0" anchor="ctr"/>
          <a:lstStyle/>
          <a:p>
            <a:pPr algn="ctr" indent="0" marL="0">
              <a:buNone/>
            </a:pPr>
            <a:r>
              <a:rPr lang="en-US" sz="1600" b="1" dirty="0">
                <a:solidFill>
                  <a:srgbClr val="FABF00"/>
                </a:solidFill>
                <a:latin typeface="Noto Sans JP" pitchFamily="34" charset="0"/>
                <a:ea typeface="Noto Sans JP" pitchFamily="34" charset="-122"/>
                <a:cs typeface="Noto Sans JP" pitchFamily="34" charset="-120"/>
              </a:rPr>
              <a:t>Step 1: 概念実証（PoC）</a:t>
            </a:r>
            <a:endParaRPr lang="en-US" sz="1600" dirty="0"/>
          </a:p>
        </p:txBody>
      </p:sp>
      <p:sp>
        <p:nvSpPr>
          <p:cNvPr id="9" name="Text 7"/>
          <p:cNvSpPr/>
          <p:nvPr/>
        </p:nvSpPr>
        <p:spPr>
          <a:xfrm>
            <a:off x="640080" y="3855720"/>
            <a:ext cx="2377440" cy="213360"/>
          </a:xfrm>
          <a:prstGeom prst="rect">
            <a:avLst/>
          </a:prstGeom>
          <a:noFill/>
          <a:ln/>
        </p:spPr>
        <p:txBody>
          <a:bodyPr wrap="square" rtlCol="0" anchor="t"/>
          <a:lstStyle/>
          <a:p>
            <a:pPr algn="ctr" indent="0" marL="0">
              <a:buNone/>
            </a:pPr>
            <a:r>
              <a:rPr lang="en-US" sz="1600" dirty="0">
                <a:solidFill>
                  <a:srgbClr val="FFFFFF"/>
                </a:solidFill>
                <a:latin typeface="Noto Sans JP" pitchFamily="34" charset="0"/>
                <a:ea typeface="Noto Sans JP" pitchFamily="34" charset="-122"/>
                <a:cs typeface="Noto Sans JP" pitchFamily="34" charset="-120"/>
              </a:rPr>
              <a:t>特定部門・単一チャネルでのAI導入実験（メール配信最適化など）</a:t>
            </a:r>
            <a:endParaRPr lang="en-US" sz="1600" dirty="0"/>
          </a:p>
        </p:txBody>
      </p:sp>
      <p:sp>
        <p:nvSpPr>
          <p:cNvPr id="10" name="Shape 8"/>
          <p:cNvSpPr/>
          <p:nvPr/>
        </p:nvSpPr>
        <p:spPr>
          <a:xfrm>
            <a:off x="3291840" y="2499360"/>
            <a:ext cx="2560320" cy="1706880"/>
          </a:xfrm>
          <a:prstGeom prst="rect">
            <a:avLst>
              <a:gd name="adj" fmla="val 4286"/>
            </a:avLst>
          </a:prstGeom>
          <a:solidFill>
            <a:srgbClr val="00A495"/>
          </a:solidFill>
          <a:ln/>
        </p:spPr>
      </p:sp>
      <p:sp>
        <p:nvSpPr>
          <p:cNvPr id="11" name="Text 9"/>
          <p:cNvSpPr/>
          <p:nvPr/>
        </p:nvSpPr>
        <p:spPr>
          <a:xfrm>
            <a:off x="3291840" y="2636520"/>
            <a:ext cx="2560320" cy="365760"/>
          </a:xfrm>
          <a:prstGeom prst="rect">
            <a:avLst/>
          </a:prstGeom>
          <a:noFill/>
          <a:ln/>
        </p:spPr>
        <p:txBody>
          <a:bodyPr wrap="square" rtlCol="0" anchor="ctr"/>
          <a:lstStyle/>
          <a:p>
            <a:pPr algn="ctr" indent="0" marL="0">
              <a:buNone/>
            </a:pPr>
            <a:r>
              <a:rPr lang="en-US" sz="1600" b="1" dirty="0">
                <a:solidFill>
                  <a:srgbClr val="FABF00"/>
                </a:solidFill>
                <a:latin typeface="Noto Sans JP" pitchFamily="34" charset="0"/>
                <a:ea typeface="Noto Sans JP" pitchFamily="34" charset="-122"/>
                <a:cs typeface="Noto Sans JP" pitchFamily="34" charset="-120"/>
              </a:rPr>
              <a:t>Step 2: 基盤統合と展開</a:t>
            </a:r>
            <a:endParaRPr lang="en-US" sz="1600" dirty="0"/>
          </a:p>
        </p:txBody>
      </p:sp>
      <p:sp>
        <p:nvSpPr>
          <p:cNvPr id="12" name="Text 10"/>
          <p:cNvSpPr/>
          <p:nvPr/>
        </p:nvSpPr>
        <p:spPr>
          <a:xfrm>
            <a:off x="3383280" y="3002280"/>
            <a:ext cx="2377440" cy="1066800"/>
          </a:xfrm>
          <a:prstGeom prst="rect">
            <a:avLst/>
          </a:prstGeom>
          <a:noFill/>
          <a:ln/>
        </p:spPr>
        <p:txBody>
          <a:bodyPr wrap="square" rtlCol="0" anchor="t"/>
          <a:lstStyle/>
          <a:p>
            <a:pPr algn="ctr" indent="0" marL="0">
              <a:buNone/>
            </a:pPr>
            <a:r>
              <a:rPr lang="en-US" sz="1600" dirty="0">
                <a:solidFill>
                  <a:srgbClr val="FFFFFF"/>
                </a:solidFill>
                <a:latin typeface="Noto Sans JP" pitchFamily="34" charset="0"/>
                <a:ea typeface="Noto Sans JP" pitchFamily="34" charset="-122"/>
                <a:cs typeface="Noto Sans JP" pitchFamily="34" charset="-120"/>
              </a:rPr>
              <a:t>複数チャネル間のデータ連携と、全社的なAI基盤の構築</a:t>
            </a:r>
            <a:endParaRPr lang="en-US" sz="1600" dirty="0"/>
          </a:p>
        </p:txBody>
      </p:sp>
      <p:sp>
        <p:nvSpPr>
          <p:cNvPr id="13" name="Shape 11"/>
          <p:cNvSpPr/>
          <p:nvPr/>
        </p:nvSpPr>
        <p:spPr>
          <a:xfrm>
            <a:off x="6035040" y="1645920"/>
            <a:ext cx="2560320" cy="2560320"/>
          </a:xfrm>
          <a:prstGeom prst="rect">
            <a:avLst>
              <a:gd name="adj" fmla="val 2857"/>
            </a:avLst>
          </a:prstGeom>
          <a:solidFill>
            <a:srgbClr val="00A495"/>
          </a:solidFill>
          <a:ln/>
        </p:spPr>
      </p:sp>
      <p:sp>
        <p:nvSpPr>
          <p:cNvPr id="14" name="Text 12"/>
          <p:cNvSpPr/>
          <p:nvPr/>
        </p:nvSpPr>
        <p:spPr>
          <a:xfrm>
            <a:off x="6035040" y="1783080"/>
            <a:ext cx="2560320" cy="365760"/>
          </a:xfrm>
          <a:prstGeom prst="rect">
            <a:avLst/>
          </a:prstGeom>
          <a:noFill/>
          <a:ln/>
        </p:spPr>
        <p:txBody>
          <a:bodyPr wrap="square" rtlCol="0" anchor="ctr"/>
          <a:lstStyle/>
          <a:p>
            <a:pPr algn="ctr" indent="0" marL="0">
              <a:buNone/>
            </a:pPr>
            <a:r>
              <a:rPr lang="en-US" sz="1600" b="1" dirty="0">
                <a:solidFill>
                  <a:srgbClr val="FABF00"/>
                </a:solidFill>
                <a:latin typeface="Noto Sans JP" pitchFamily="34" charset="0"/>
                <a:ea typeface="Noto Sans JP" pitchFamily="34" charset="-122"/>
                <a:cs typeface="Noto Sans JP" pitchFamily="34" charset="-120"/>
              </a:rPr>
              <a:t>Step 3: 自律的PDCAの確立</a:t>
            </a:r>
            <a:endParaRPr lang="en-US" sz="1600" dirty="0"/>
          </a:p>
        </p:txBody>
      </p:sp>
      <p:sp>
        <p:nvSpPr>
          <p:cNvPr id="15" name="Text 13"/>
          <p:cNvSpPr/>
          <p:nvPr/>
        </p:nvSpPr>
        <p:spPr>
          <a:xfrm>
            <a:off x="6126480" y="2148840"/>
            <a:ext cx="2377440" cy="1920240"/>
          </a:xfrm>
          <a:prstGeom prst="rect">
            <a:avLst/>
          </a:prstGeom>
          <a:noFill/>
          <a:ln/>
        </p:spPr>
        <p:txBody>
          <a:bodyPr wrap="square" rtlCol="0" anchor="t"/>
          <a:lstStyle/>
          <a:p>
            <a:pPr algn="ctr" indent="0" marL="0">
              <a:buNone/>
            </a:pPr>
            <a:r>
              <a:rPr lang="en-US" sz="1600" dirty="0">
                <a:solidFill>
                  <a:srgbClr val="FFFFFF"/>
                </a:solidFill>
                <a:latin typeface="Noto Sans JP" pitchFamily="34" charset="0"/>
                <a:ea typeface="Noto Sans JP" pitchFamily="34" charset="-122"/>
                <a:cs typeface="Noto Sans JP" pitchFamily="34" charset="-120"/>
              </a:rPr>
              <a:t>高度な予測モデルの全社運用と、次世代顧客体験（CX）の創出</a:t>
            </a:r>
            <a:endParaRPr lang="en-US" sz="1600" dirty="0"/>
          </a:p>
        </p:txBody>
      </p:sp>
      <p:sp>
        <p:nvSpPr>
          <p:cNvPr id="16" name="Text 14"/>
          <p:cNvSpPr/>
          <p:nvPr/>
        </p:nvSpPr>
        <p:spPr>
          <a:xfrm>
            <a:off x="548640" y="4663440"/>
            <a:ext cx="8046720" cy="274320"/>
          </a:xfrm>
          <a:prstGeom prst="rect">
            <a:avLst/>
          </a:prstGeom>
          <a:noFill/>
          <a:ln/>
        </p:spPr>
        <p:txBody>
          <a:bodyPr wrap="square" rtlCol="0" anchor="b"/>
          <a:lstStyle/>
          <a:p>
            <a:pPr indent="0" marL="0">
              <a:buNone/>
            </a:pPr>
            <a:r>
              <a:rPr lang="en-US" sz="1200" dirty="0">
                <a:solidFill>
                  <a:srgbClr val="7A8C89"/>
                </a:solidFill>
                <a:latin typeface="Noto Sans JP" pitchFamily="34" charset="0"/>
                <a:ea typeface="Noto Sans JP" pitchFamily="34" charset="-122"/>
                <a:cs typeface="Noto Sans JP" pitchFamily="34" charset="-120"/>
              </a:rPr>
              <a:t>出所: 社内検討資料および市場調査データより</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0A495"/>
          </a:solidFill>
          <a:ln/>
        </p:spPr>
      </p:sp>
      <p:sp>
        <p:nvSpPr>
          <p:cNvPr id="3" name="Text 1"/>
          <p:cNvSpPr/>
          <p:nvPr/>
        </p:nvSpPr>
        <p:spPr>
          <a:xfrm>
            <a:off x="548640" y="0"/>
            <a:ext cx="8046720" cy="731520"/>
          </a:xfrm>
          <a:prstGeom prst="rect">
            <a:avLst/>
          </a:prstGeom>
          <a:noFill/>
          <a:ln/>
        </p:spPr>
        <p:txBody>
          <a:bodyPr wrap="square" rtlCol="0" anchor="ctr"/>
          <a:lstStyle/>
          <a:p>
            <a:pPr indent="0" marL="0">
              <a:buNone/>
            </a:pPr>
            <a:r>
              <a:rPr lang="en-US" sz="2400" b="1" dirty="0">
                <a:solidFill>
                  <a:srgbClr val="FFFFFF"/>
                </a:solidFill>
                <a:latin typeface="Noto Sans JP" pitchFamily="34" charset="0"/>
                <a:ea typeface="Noto Sans JP" pitchFamily="34" charset="-122"/>
                <a:cs typeface="Noto Sans JP" pitchFamily="34" charset="-120"/>
              </a:rPr>
              <a:t>CONCLUSION</a:t>
            </a:r>
            <a:endParaRPr lang="en-US" sz="2400" dirty="0"/>
          </a:p>
        </p:txBody>
      </p:sp>
      <p:sp>
        <p:nvSpPr>
          <p:cNvPr id="4" name="Shape 2"/>
          <p:cNvSpPr/>
          <p:nvPr/>
        </p:nvSpPr>
        <p:spPr>
          <a:xfrm>
            <a:off x="548640" y="1097280"/>
            <a:ext cx="8046720" cy="914400"/>
          </a:xfrm>
          <a:prstGeom prst="rect">
            <a:avLst>
              <a:gd name="adj" fmla="val 10000"/>
            </a:avLst>
          </a:prstGeom>
          <a:solidFill>
            <a:srgbClr val="00A495"/>
          </a:solidFill>
          <a:ln/>
        </p:spPr>
      </p:sp>
      <p:sp>
        <p:nvSpPr>
          <p:cNvPr id="5" name="Text 3"/>
          <p:cNvSpPr/>
          <p:nvPr/>
        </p:nvSpPr>
        <p:spPr>
          <a:xfrm>
            <a:off x="731520" y="1097280"/>
            <a:ext cx="7680960" cy="914400"/>
          </a:xfrm>
          <a:prstGeom prst="rect">
            <a:avLst/>
          </a:prstGeom>
          <a:noFill/>
          <a:ln/>
        </p:spPr>
        <p:txBody>
          <a:bodyPr wrap="square" rtlCol="0" anchor="ctr"/>
          <a:lstStyle/>
          <a:p>
            <a:pPr indent="0" marL="0">
              <a:buNone/>
            </a:pPr>
            <a:r>
              <a:rPr lang="en-US" sz="2000" b="1" dirty="0">
                <a:solidFill>
                  <a:srgbClr val="FFFFFF"/>
                </a:solidFill>
                <a:latin typeface="Noto Sans JP" pitchFamily="34" charset="0"/>
                <a:ea typeface="Noto Sans JP" pitchFamily="34" charset="-122"/>
                <a:cs typeface="Noto Sans JP" pitchFamily="34" charset="-120"/>
              </a:rPr>
              <a:t>AIはマーケティングの可能性を広げ、顧客とのエンゲージメントを最大化する強力なパートナーである。</a:t>
            </a:r>
            <a:endParaRPr lang="en-US" sz="2000" dirty="0"/>
          </a:p>
        </p:txBody>
      </p:sp>
      <p:sp>
        <p:nvSpPr>
          <p:cNvPr id="6" name="Text 4"/>
          <p:cNvSpPr/>
          <p:nvPr/>
        </p:nvSpPr>
        <p:spPr>
          <a:xfrm>
            <a:off x="548640" y="2377440"/>
            <a:ext cx="8046720" cy="457200"/>
          </a:xfrm>
          <a:prstGeom prst="rect">
            <a:avLst/>
          </a:prstGeom>
          <a:noFill/>
          <a:ln/>
        </p:spPr>
        <p:txBody>
          <a:bodyPr wrap="square" rtlCol="0" anchor="ctr"/>
          <a:lstStyle/>
          <a:p>
            <a:pPr indent="0" marL="0">
              <a:buNone/>
            </a:pPr>
            <a:r>
              <a:rPr lang="en-US" sz="1800" b="1" dirty="0">
                <a:solidFill>
                  <a:srgbClr val="2C3E3B"/>
                </a:solidFill>
                <a:latin typeface="Noto Sans JP" pitchFamily="34" charset="0"/>
                <a:ea typeface="Noto Sans JP" pitchFamily="34" charset="-122"/>
                <a:cs typeface="Noto Sans JP" pitchFamily="34" charset="-120"/>
              </a:rPr>
              <a:t>Next Steps</a:t>
            </a:r>
            <a:endParaRPr lang="en-US" sz="1800" dirty="0"/>
          </a:p>
        </p:txBody>
      </p:sp>
      <p:sp>
        <p:nvSpPr>
          <p:cNvPr id="7" name="Shape 5"/>
          <p:cNvSpPr/>
          <p:nvPr/>
        </p:nvSpPr>
        <p:spPr>
          <a:xfrm>
            <a:off x="548640" y="2926080"/>
            <a:ext cx="365760" cy="365760"/>
          </a:xfrm>
          <a:prstGeom prst="rect">
            <a:avLst>
              <a:gd name="adj" fmla="val 12500"/>
            </a:avLst>
          </a:prstGeom>
          <a:solidFill>
            <a:srgbClr val="FABF00"/>
          </a:solidFill>
          <a:ln/>
        </p:spPr>
      </p:sp>
      <p:sp>
        <p:nvSpPr>
          <p:cNvPr id="8" name="Text 6"/>
          <p:cNvSpPr/>
          <p:nvPr/>
        </p:nvSpPr>
        <p:spPr>
          <a:xfrm>
            <a:off x="548640" y="2926080"/>
            <a:ext cx="365760" cy="365760"/>
          </a:xfrm>
          <a:prstGeom prst="rect">
            <a:avLst/>
          </a:prstGeom>
          <a:noFill/>
          <a:ln/>
        </p:spPr>
        <p:txBody>
          <a:bodyPr wrap="square" rtlCol="0" anchor="ctr"/>
          <a:lstStyle/>
          <a:p>
            <a:pPr algn="ctr" indent="0" marL="0">
              <a:buNone/>
            </a:pPr>
            <a:r>
              <a:rPr lang="en-US" sz="1600" b="1" dirty="0">
                <a:solidFill>
                  <a:srgbClr val="00A495"/>
                </a:solidFill>
                <a:latin typeface="Noto Sans JP" pitchFamily="34" charset="0"/>
                <a:ea typeface="Noto Sans JP" pitchFamily="34" charset="-122"/>
                <a:cs typeface="Noto Sans JP" pitchFamily="34" charset="-120"/>
              </a:rPr>
              <a:t>1</a:t>
            </a:r>
            <a:endParaRPr lang="en-US" sz="1600" dirty="0"/>
          </a:p>
        </p:txBody>
      </p:sp>
      <p:sp>
        <p:nvSpPr>
          <p:cNvPr id="9" name="Text 7"/>
          <p:cNvSpPr/>
          <p:nvPr/>
        </p:nvSpPr>
        <p:spPr>
          <a:xfrm>
            <a:off x="1097280" y="2926080"/>
            <a:ext cx="7498080" cy="365760"/>
          </a:xfrm>
          <a:prstGeom prst="rect">
            <a:avLst/>
          </a:prstGeom>
          <a:noFill/>
          <a:ln/>
        </p:spPr>
        <p:txBody>
          <a:bodyPr wrap="square" rtlCol="0" anchor="ctr"/>
          <a:lstStyle/>
          <a:p>
            <a:pPr indent="0" marL="0">
              <a:buNone/>
            </a:pPr>
            <a:r>
              <a:rPr lang="en-US" sz="1600" dirty="0">
                <a:solidFill>
                  <a:srgbClr val="4A5B58"/>
                </a:solidFill>
                <a:latin typeface="Noto Sans JP" pitchFamily="34" charset="0"/>
                <a:ea typeface="Noto Sans JP" pitchFamily="34" charset="-122"/>
                <a:cs typeface="Noto Sans JP" pitchFamily="34" charset="-120"/>
              </a:rPr>
              <a:t>自社の事業課題とAIの適用可能領域（クイックウィン）の特定</a:t>
            </a:r>
            <a:endParaRPr lang="en-US" sz="1600" dirty="0"/>
          </a:p>
        </p:txBody>
      </p:sp>
      <p:sp>
        <p:nvSpPr>
          <p:cNvPr id="10" name="Shape 8"/>
          <p:cNvSpPr/>
          <p:nvPr/>
        </p:nvSpPr>
        <p:spPr>
          <a:xfrm>
            <a:off x="548640" y="3429000"/>
            <a:ext cx="365760" cy="365760"/>
          </a:xfrm>
          <a:prstGeom prst="rect">
            <a:avLst>
              <a:gd name="adj" fmla="val 12500"/>
            </a:avLst>
          </a:prstGeom>
          <a:solidFill>
            <a:srgbClr val="FABF00"/>
          </a:solidFill>
          <a:ln/>
        </p:spPr>
      </p:sp>
      <p:sp>
        <p:nvSpPr>
          <p:cNvPr id="11" name="Text 9"/>
          <p:cNvSpPr/>
          <p:nvPr/>
        </p:nvSpPr>
        <p:spPr>
          <a:xfrm>
            <a:off x="548640" y="3429000"/>
            <a:ext cx="365760" cy="365760"/>
          </a:xfrm>
          <a:prstGeom prst="rect">
            <a:avLst/>
          </a:prstGeom>
          <a:noFill/>
          <a:ln/>
        </p:spPr>
        <p:txBody>
          <a:bodyPr wrap="square" rtlCol="0" anchor="ctr"/>
          <a:lstStyle/>
          <a:p>
            <a:pPr algn="ctr" indent="0" marL="0">
              <a:buNone/>
            </a:pPr>
            <a:r>
              <a:rPr lang="en-US" sz="1600" b="1" dirty="0">
                <a:solidFill>
                  <a:srgbClr val="00A495"/>
                </a:solidFill>
                <a:latin typeface="Noto Sans JP" pitchFamily="34" charset="0"/>
                <a:ea typeface="Noto Sans JP" pitchFamily="34" charset="-122"/>
                <a:cs typeface="Noto Sans JP" pitchFamily="34" charset="-120"/>
              </a:rPr>
              <a:t>2</a:t>
            </a:r>
            <a:endParaRPr lang="en-US" sz="1600" dirty="0"/>
          </a:p>
        </p:txBody>
      </p:sp>
      <p:sp>
        <p:nvSpPr>
          <p:cNvPr id="12" name="Text 10"/>
          <p:cNvSpPr/>
          <p:nvPr/>
        </p:nvSpPr>
        <p:spPr>
          <a:xfrm>
            <a:off x="1097280" y="3429000"/>
            <a:ext cx="7498080" cy="365760"/>
          </a:xfrm>
          <a:prstGeom prst="rect">
            <a:avLst/>
          </a:prstGeom>
          <a:noFill/>
          <a:ln/>
        </p:spPr>
        <p:txBody>
          <a:bodyPr wrap="square" rtlCol="0" anchor="ctr"/>
          <a:lstStyle/>
          <a:p>
            <a:pPr indent="0" marL="0">
              <a:buNone/>
            </a:pPr>
            <a:r>
              <a:rPr lang="en-US" sz="1600" dirty="0">
                <a:solidFill>
                  <a:srgbClr val="4A5B58"/>
                </a:solidFill>
                <a:latin typeface="Noto Sans JP" pitchFamily="34" charset="0"/>
                <a:ea typeface="Noto Sans JP" pitchFamily="34" charset="-122"/>
                <a:cs typeface="Noto Sans JP" pitchFamily="34" charset="-120"/>
              </a:rPr>
              <a:t>小規模なPoC（概念実証）プロジェクトチームの組成と実験開始</a:t>
            </a:r>
            <a:endParaRPr lang="en-US" sz="1600" dirty="0"/>
          </a:p>
        </p:txBody>
      </p:sp>
      <p:sp>
        <p:nvSpPr>
          <p:cNvPr id="13" name="Shape 11"/>
          <p:cNvSpPr/>
          <p:nvPr/>
        </p:nvSpPr>
        <p:spPr>
          <a:xfrm>
            <a:off x="548640" y="3931920"/>
            <a:ext cx="365760" cy="365760"/>
          </a:xfrm>
          <a:prstGeom prst="rect">
            <a:avLst>
              <a:gd name="adj" fmla="val 12500"/>
            </a:avLst>
          </a:prstGeom>
          <a:solidFill>
            <a:srgbClr val="FABF00"/>
          </a:solidFill>
          <a:ln/>
        </p:spPr>
      </p:sp>
      <p:sp>
        <p:nvSpPr>
          <p:cNvPr id="14" name="Text 12"/>
          <p:cNvSpPr/>
          <p:nvPr/>
        </p:nvSpPr>
        <p:spPr>
          <a:xfrm>
            <a:off x="548640" y="3931920"/>
            <a:ext cx="365760" cy="365760"/>
          </a:xfrm>
          <a:prstGeom prst="rect">
            <a:avLst/>
          </a:prstGeom>
          <a:noFill/>
          <a:ln/>
        </p:spPr>
        <p:txBody>
          <a:bodyPr wrap="square" rtlCol="0" anchor="ctr"/>
          <a:lstStyle/>
          <a:p>
            <a:pPr algn="ctr" indent="0" marL="0">
              <a:buNone/>
            </a:pPr>
            <a:r>
              <a:rPr lang="en-US" sz="1600" b="1" dirty="0">
                <a:solidFill>
                  <a:srgbClr val="00A495"/>
                </a:solidFill>
                <a:latin typeface="Noto Sans JP" pitchFamily="34" charset="0"/>
                <a:ea typeface="Noto Sans JP" pitchFamily="34" charset="-122"/>
                <a:cs typeface="Noto Sans JP" pitchFamily="34" charset="-120"/>
              </a:rPr>
              <a:t>3</a:t>
            </a:r>
            <a:endParaRPr lang="en-US" sz="1600" dirty="0"/>
          </a:p>
        </p:txBody>
      </p:sp>
      <p:sp>
        <p:nvSpPr>
          <p:cNvPr id="15" name="Text 13"/>
          <p:cNvSpPr/>
          <p:nvPr/>
        </p:nvSpPr>
        <p:spPr>
          <a:xfrm>
            <a:off x="1097280" y="3931920"/>
            <a:ext cx="7498080" cy="365760"/>
          </a:xfrm>
          <a:prstGeom prst="rect">
            <a:avLst/>
          </a:prstGeom>
          <a:noFill/>
          <a:ln/>
        </p:spPr>
        <p:txBody>
          <a:bodyPr wrap="square" rtlCol="0" anchor="ctr"/>
          <a:lstStyle/>
          <a:p>
            <a:pPr indent="0" marL="0">
              <a:buNone/>
            </a:pPr>
            <a:r>
              <a:rPr lang="en-US" sz="1600" dirty="0">
                <a:solidFill>
                  <a:srgbClr val="4A5B58"/>
                </a:solidFill>
                <a:latin typeface="Noto Sans JP" pitchFamily="34" charset="0"/>
                <a:ea typeface="Noto Sans JP" pitchFamily="34" charset="-122"/>
                <a:cs typeface="Noto Sans JP" pitchFamily="34" charset="-120"/>
              </a:rPr>
              <a:t>中長期的なデータの統合・クレンジングに向けた基盤整備計画の策定</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AI×マーケティング活用戦略</dc:title>
  <dc:subject>PptxGenJS Presentation</dc:subject>
  <dc:creator>マーケティング推進部</dc:creator>
  <cp:lastModifiedBy>マーケティング推進部</cp:lastModifiedBy>
  <cp:revision>1</cp:revision>
  <dcterms:created xsi:type="dcterms:W3CDTF">2026-03-07T12:35:53Z</dcterms:created>
  <dcterms:modified xsi:type="dcterms:W3CDTF">2026-03-07T12:35:53Z</dcterms:modified>
</cp:coreProperties>
</file>